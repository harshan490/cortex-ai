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(30 seconds)</a:t>
            </a:r>
          </a:p>
          <a:p/>
          <a:p>
            <a:r>
              <a:t>"Good morning/afternoon. We're presenting Cortex AI — a privacy-focused meeting intelligence platform.</a:t>
            </a:r>
          </a:p>
          <a:p/>
          <a:p>
            <a:r>
              <a:t>The core idea is simple: meetings generate decisions, tasks, risks, and dependencies — but most of that knowledge gets buried in transcripts and never acted upon.</a:t>
            </a:r>
          </a:p>
          <a:p/>
          <a:p>
            <a:r>
              <a:t>Cortex AI changes that. It takes raw meeting transcripts, processes them with a local AI model, and converts them into structured, actionable knowledge — with workflow tracking, human review, and analytics.</a:t>
            </a:r>
          </a:p>
          <a:p/>
          <a:p>
            <a:r>
              <a:t>Let me show you the problem we're solving."</a:t>
            </a:r>
          </a:p>
          <a:p/>
          <a:p>
            <a:r>
              <a:t>TRANSITION: "First, let's talk about why this matters."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The Problem (45 seconds)</a:t>
            </a:r>
          </a:p>
          <a:p/>
          <a:p>
            <a:r>
              <a:t>"Every organization runs meetings. And every meeting generates decisions, action items, risks, and dependencies.</a:t>
            </a:r>
          </a:p>
          <a:p/>
          <a:p>
            <a:r>
              <a:t>But here's what actually happens:</a:t>
            </a:r>
          </a:p>
          <a:p/>
          <a:p>
            <a:r>
              <a:t>Decisions get buried in transcript text. Action items are discussed but never tracked. Deadlines and dependencies are forgotten within days.</a:t>
            </a:r>
          </a:p>
          <a:p/>
          <a:p>
            <a:r>
              <a:t>Teams spend hours manually re-reading transcripts to extract what was agreed upon. And increasingly, organizations are uncomfortable sending sensitive meeting content to cloud AI services.</a:t>
            </a:r>
          </a:p>
          <a:p/>
          <a:p>
            <a:r>
              <a:t>The result? Meetings happen, but execution doesn't follow. There's no visibility into whether commitments were kept."</a:t>
            </a:r>
          </a:p>
          <a:p/>
          <a:p>
            <a:r>
              <a:t>TRANSITION: "Cortex AI solves this end-to-end."</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Our Solution (45 seconds)</a:t>
            </a:r>
          </a:p>
          <a:p/>
          <a:p>
            <a:r>
              <a:t>"Cortex AI provides an end-to-end pipeline from raw transcript to accountable execution.</a:t>
            </a:r>
          </a:p>
          <a:p/>
          <a:p>
            <a:r>
              <a:t>Here's the flow: you input a meeting transcript. Our local AI — powered by Ollama and qwen3 — performs structured intelligence extraction. The output isn't just a summary. It's structured knowledge: participants, decisions, action items with owners, risks, dependencies, and open clarifications.</a:t>
            </a:r>
          </a:p>
          <a:p/>
          <a:p>
            <a:r>
              <a:t>That structured output then enters a human review stage. Nothing is auto-completed — a human approves the extracted intelligence before it becomes part of the organization's record.</a:t>
            </a:r>
          </a:p>
          <a:p/>
          <a:p>
            <a:r>
              <a:t>Finally, everything feeds into workflow tracking and analytics dashboards, creating persistent organizational memory around meetings.</a:t>
            </a:r>
          </a:p>
          <a:p/>
          <a:p>
            <a:r>
              <a:t>Four key differentiators: privacy-first local inference, extraction that goes beyond summarization, human-in-the-loop approval, and full execution tracking."</a:t>
            </a:r>
          </a:p>
          <a:p/>
          <a:p>
            <a:r>
              <a:t>TRANSITION: "Let me walk you through the product."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Product Walkthrough (60 seconds)</a:t>
            </a:r>
          </a:p>
          <a:p/>
          <a:p>
            <a:r>
              <a:t>"Let me walk through the user journey.</a:t>
            </a:r>
          </a:p>
          <a:p/>
          <a:p>
            <a:r>
              <a:t>Step 1: The user creates a meeting — providing a title and date.</a:t>
            </a:r>
          </a:p>
          <a:p/>
          <a:p>
            <a:r>
              <a:t>Step 2: They paste the raw meeting transcript as text segments — each line with a speaker name and their statement.</a:t>
            </a:r>
          </a:p>
          <a:p/>
          <a:p>
            <a:r>
              <a:t>Step 3: They click Process. The backend sends the transcript to a local Ollama instance running qwen3:4b-instruct. The AI performs a single structured JSON extraction call.</a:t>
            </a:r>
          </a:p>
          <a:p/>
          <a:p>
            <a:r>
              <a:t>Step 4: The results come back as structured intelligence — summary, participants, action items with owners, decisions, risks, dependencies, and open clarifications. The user reviews each category.</a:t>
            </a:r>
          </a:p>
          <a:p/>
          <a:p>
            <a:r>
              <a:t>Step 5: The meeting enters an 'awaiting review' workflow state at 95% progress. The user can approve or reject.</a:t>
            </a:r>
          </a:p>
          <a:p/>
          <a:p>
            <a:r>
              <a:t>Step 6: Everything feeds into analytics dashboards with week, month, and quarter filters, searchable history, and organizational memory."</a:t>
            </a:r>
          </a:p>
          <a:p/>
          <a:p>
            <a:r>
              <a:t>DEMO CUE: If doing a live demo, this is where you switch to the browser.</a:t>
            </a:r>
          </a:p>
          <a:p/>
          <a:p>
            <a:r>
              <a:t>TRANSITION: "Let me show you exactly what Cortex extracts."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What Cortex Extracts (45 seconds)</a:t>
            </a:r>
          </a:p>
          <a:p/>
          <a:p>
            <a:r>
              <a:t>"Cortex doesn't just summarize. It performs structured extraction across eight categories.</a:t>
            </a:r>
          </a:p>
          <a:p/>
          <a:p>
            <a:r>
              <a:t>Summary with a confidence score. Participants extracted from speaker labels. Action items with owners, deadlines, priority levels, and the evidence from the transcript that supports each item.</a:t>
            </a:r>
          </a:p>
          <a:p/>
          <a:p>
            <a:r>
              <a:t>Decisions with who made them. Risks with severity and likelihood. Dependencies showing what blocks what. And clarifications — questions that were raised but not resolved in the meeting.</a:t>
            </a:r>
          </a:p>
          <a:p/>
          <a:p>
            <a:r>
              <a:t>Every extracted item includes a confidence score from 0.0 to 1.0, so reviewers know how certain the AI is about each extraction.</a:t>
            </a:r>
          </a:p>
          <a:p/>
          <a:p>
            <a:r>
              <a:t>Here's a real example from a Project Atlas launch meeting — you can see the action item assigned to Ravi, the conditional launch decision by Asha, a high-severity security risk, and a deployment dependency."</a:t>
            </a:r>
          </a:p>
          <a:p/>
          <a:p>
            <a:r>
              <a:t>TRANSITION: "Let me show you how the processing pipeline works."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Workflow Pipeline (60 seconds)</a:t>
            </a:r>
          </a:p>
          <a:p/>
          <a:p>
            <a:r>
              <a:t>"Every meeting processing request creates a persistent WorkflowState record in PostgreSQL.</a:t>
            </a:r>
          </a:p>
          <a:p/>
          <a:p>
            <a:r>
              <a:t>The pipeline progresses through well-defined stages: transcript received at 5%, validation at 10%, provider health check at 20% — this verifies Ollama is running and the model is available.</a:t>
            </a:r>
          </a:p>
          <a:p/>
          <a:p>
            <a:r>
              <a:t>Then intelligence extraction at 30% — this is a single structured LLM call that extracts all categories at once. Result validation at 70% checks the JSON output against our Pydantic schema.</a:t>
            </a:r>
          </a:p>
          <a:p/>
          <a:p>
            <a:r>
              <a:t>Database persistence at 80% writes everything to PostgreSQL — idempotently, deleting any previous extraction for that meeting first.</a:t>
            </a:r>
          </a:p>
          <a:p/>
          <a:p>
            <a:r>
              <a:t>At 95%, the workflow enters 'awaiting_review' — this is the human approval boundary. Nothing reaches 'completed' without explicit human approval.</a:t>
            </a:r>
          </a:p>
          <a:p/>
          <a:p>
            <a:r>
              <a:t>Three important engineering details: the workflow has exactly four status values — processing, awaiting_review, completed, and failed. There's a UniqueConstraint on meeting_id to prevent duplicate workflows. And on failure, the error is preserved, the attempt counter increments, and the system is ready for retry."</a:t>
            </a:r>
          </a:p>
          <a:p/>
          <a:p>
            <a:r>
              <a:t>TRANSITION: "Now let's talk about privacy."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Privacy-First Local AI (45 seconds)</a:t>
            </a:r>
          </a:p>
          <a:p/>
          <a:p>
            <a:r>
              <a:t>"Privacy is a first-class concern. The entire AI processing pipeline runs locally.</a:t>
            </a:r>
          </a:p>
          <a:p/>
          <a:p>
            <a:r>
              <a:t>We use Ollama with the qwen3:4b-instruct model. The meeting transcript goes into the local Ollama runtime, comes out as structured JSON, and gets persisted to your own PostgreSQL database. No data leaves your infrastructure.</a:t>
            </a:r>
          </a:p>
          <a:p/>
          <a:p>
            <a:r>
              <a:t>Key technical details: we dereference JSON schemas — inlining all $defs and $ref — because Ollama compiles schemas into grammars, and nested references cause severe performance degradation.</a:t>
            </a:r>
          </a:p>
          <a:p/>
          <a:p>
            <a:r>
              <a:t>We have provider health checks that verify Ollama is running and the model is loaded before attempting extraction. The system prompt explicitly instructs the model to treat transcript content as data only, not as instructions — a defense against prompt injection.</a:t>
            </a:r>
          </a:p>
          <a:p/>
          <a:p>
            <a:r>
              <a:t>The provider system is abstracted: you can switch between mock, ollama, and openai via a single environment variable.</a:t>
            </a:r>
          </a:p>
          <a:p/>
          <a:p>
            <a:r>
              <a:t>One honest note: local CPU inference currently takes one to three minutes per transcript. This varies with hardware. For production use, a GPU is recommended."</a:t>
            </a:r>
          </a:p>
          <a:p/>
          <a:p>
            <a:r>
              <a:t>TRANSITION: "Let me show you the full system architecture."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System Architecture (45 seconds)</a:t>
            </a:r>
          </a:p>
          <a:p/>
          <a:p>
            <a:r>
              <a:t>"Here's the full architecture. The frontend is Next.js 15 with React 19, using TypeScript, Tailwind CSS, Zustand for state management, and React Query for API state.</a:t>
            </a:r>
          </a:p>
          <a:p/>
          <a:p>
            <a:r>
              <a:t>The backend is FastAPI with Python 3.12, using SQLAlchemy ORM, Pydantic for validation, JWT authentication, a workflow tracker, and the LLM service abstraction.</a:t>
            </a:r>
          </a:p>
          <a:p/>
          <a:p>
            <a:r>
              <a:t>PostgreSQL is the primary data store — it holds users, meetings, tasks, decisions, risks, workflows, dependencies, and clarifications.</a:t>
            </a:r>
          </a:p>
          <a:p/>
          <a:p>
            <a:r>
              <a:t>On the left, Ollama runs as a separate local service providing the AI inference. The backend communicates with it via HTTP.</a:t>
            </a:r>
          </a:p>
          <a:p/>
          <a:p>
            <a:r>
              <a:t>On the right, we have provisioned infrastructure: Redis as the Celery task broker, Qdrant for future vector search, and Neo4j for future knowledge graph capabilities. These are scaffolded and ready for integration but are not part of the core processing flow today."</a:t>
            </a:r>
          </a:p>
          <a:p/>
          <a:p>
            <a:r>
              <a:t>TRANSITION: "Let me trace the actual API flow."</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Data and API Flow (45 seconds)</a:t>
            </a:r>
          </a:p>
          <a:p/>
          <a:p>
            <a:r>
              <a:t>"Here's the complete API sequence for processing a meeting.</a:t>
            </a:r>
          </a:p>
          <a:p/>
          <a:p>
            <a:r>
              <a:t>Step 1: The user authenticates via POST to /api/auth/login and receives a JWT token.</a:t>
            </a:r>
          </a:p>
          <a:p/>
          <a:p>
            <a:r>
              <a:t>Step 2: They create a meeting via POST to /api/meetings.</a:t>
            </a:r>
          </a:p>
          <a:p/>
          <a:p>
            <a:r>
              <a:t>Step 3: They upload the transcript — this is a JSON body with speaker segments, sent to the transcript endpoint.</a:t>
            </a:r>
          </a:p>
          <a:p/>
          <a:p>
            <a:r>
              <a:t>Step 4: They trigger processing via POST to /api/meetings/{id}/process. This creates a WorkflowState and starts the pipeline.</a:t>
            </a:r>
          </a:p>
          <a:p/>
          <a:p>
            <a:r>
              <a:t>Steps 5 and 6: The backend runs through validation stages, checks Ollama health, then sends the transcript for structured extraction using a dereferenced JSON schema.</a:t>
            </a:r>
          </a:p>
          <a:p/>
          <a:p>
            <a:r>
              <a:t>Step 7: Extracted data is persisted — participants, action items, decisions, risks, dependencies, and clarifications all go into PostgreSQL.</a:t>
            </a:r>
          </a:p>
          <a:p/>
          <a:p>
            <a:r>
              <a:t>Step 8: The meeting enters awaiting_review at 95%. The frontend can poll for status updates.</a:t>
            </a:r>
          </a:p>
          <a:p/>
          <a:p>
            <a:r>
              <a:t>Step 9: A reviewer approves with PUT status=completed or rejects with status=scheduled.</a:t>
            </a:r>
          </a:p>
          <a:p/>
          <a:p>
            <a:r>
              <a:t>Step 10: Analytics are available via /api/analytics/overview with week, month, and quarter period filters, scoped to the authenticated user."</a:t>
            </a:r>
          </a:p>
          <a:p/>
          <a:p>
            <a:r>
              <a:t>TRANSITION: "Let's look at the analytics and history capabilities."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Analytics, History and Search (45 seconds)</a:t>
            </a:r>
          </a:p>
          <a:p/>
          <a:p>
            <a:r>
              <a:t>"Cortex creates persistent organizational memory around meetings.</a:t>
            </a:r>
          </a:p>
          <a:p/>
          <a:p>
            <a:r>
              <a:t>The Analytics Dashboard provides user-scoped metrics with three period filters — week, month, and quarter. You can see total meetings, tasks, action items, completion rates, overdue items, critical risks, average duration, and meeting trends over time.</a:t>
            </a:r>
          </a:p>
          <a:p/>
          <a:p>
            <a:r>
              <a:t>Meeting History shows every processed meeting with its status, participant count, decision and action item counts, confidence scores, and approval outcomes. You can see the workflow state of each meeting.</a:t>
            </a:r>
          </a:p>
          <a:p/>
          <a:p>
            <a:r>
              <a:t>Search provides full-text search across all entities — meetings, decisions, tasks, and action items. Results are scored by relevance, filterable by type and date range, and paginated.</a:t>
            </a:r>
          </a:p>
          <a:p/>
          <a:p>
            <a:r>
              <a:t>All of these are backed by real database queries — not mock data. The analytics endpoint runs SQL aggregations scoped to the authenticated user."</a:t>
            </a:r>
          </a:p>
          <a:p/>
          <a:p>
            <a:r>
              <a:t>TRANSITION: "Let's talk about engineering quality."</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Reliability and Engineering Quality (45 seconds)</a:t>
            </a:r>
          </a:p>
          <a:p/>
          <a:p>
            <a:r>
              <a:t>"Engineering quality matters in a hackathon. Here's what we've built.</a:t>
            </a:r>
          </a:p>
          <a:p/>
          <a:p>
            <a:r>
              <a:t>Authentication: JWT-based with bcrypt password hashing. All data is scoped to the authenticated user.</a:t>
            </a:r>
          </a:p>
          <a:p/>
          <a:p>
            <a:r>
              <a:t>Test coverage: 71 backend test functions and 96 frontend test cases across 13 test files. Backend tests use ASGI transport with transactional rollback — no database pollution between tests.</a:t>
            </a:r>
          </a:p>
          <a:p/>
          <a:p>
            <a:r>
              <a:t>The LLM provider has a deterministic mock mode for automated testing. Real Ollama integration tests are opt-in via an environment variable.</a:t>
            </a:r>
          </a:p>
          <a:p/>
          <a:p>
            <a:r>
              <a:t>Type safety is end-to-end: TypeScript strict mode on the frontend, Pydantic schema validation on the backend. The production build has zero TypeScript errors, zero lint warnings, and zero build errors.</a:t>
            </a:r>
          </a:p>
          <a:p/>
          <a:p>
            <a:r>
              <a:t>Processing is idempotent — the workflow uses a UniqueConstraint on meeting_id, and re-processing deletes previous extractions before writing new ones.</a:t>
            </a:r>
          </a:p>
          <a:p/>
          <a:p>
            <a:r>
              <a:t>Errors are handled safely — OllamaError produces user-facing messages without leaking internal details. Every failure is persisted to the database with the error message and attempt count."</a:t>
            </a:r>
          </a:p>
          <a:p/>
          <a:p>
            <a:r>
              <a:t>TRANSITION: "Let me share some of the key challenges we solved."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Key Technical Challenges (60 seconds)</a:t>
            </a:r>
          </a:p>
          <a:p/>
          <a:p>
            <a:r>
              <a:t>"Let me walk through five real challenges we solved.</a:t>
            </a:r>
          </a:p>
          <a:p/>
          <a:p>
            <a:r>
              <a:t>First: slow local CPU inference. The qwen3 model on CPU can take one to three minutes. We handle this with a long configurable timeout, persistent workflow progress tracking so users can see what's happening, and duplicate-submission prevention via the workflow upsert.</a:t>
            </a:r>
          </a:p>
          <a:p/>
          <a:p>
            <a:r>
              <a:t>Second: getting reliable structured output from a local LLM. We use JSON schema prompting with Ollama's format parameter, but we had to dereference all $defs and $ref entries — Ollama compiles schemas into grammars, and nested references caused extreme slowdowns. Every response is validated against our Pydantic schema.</a:t>
            </a:r>
          </a:p>
          <a:p/>
          <a:p>
            <a:r>
              <a:t>Third: workflow visibility. We built a persistent WorkflowState model with 14 defined stages, each with a progress percentage. This gives users and developers full visibility into where processing is and what happened if it fails.</a:t>
            </a:r>
          </a:p>
          <a:p/>
          <a:p>
            <a:r>
              <a:t>Fourth: test isolation. Live LLM tests are inherently slow and flaky. We use ASGI transport for fast in-process backend testing, a deterministic mock provider, transactional rollback to prevent test pollution, and opt-in real Ollama tests via an environment variable.</a:t>
            </a:r>
          </a:p>
          <a:p/>
          <a:p>
            <a:r>
              <a:t>Fifth: database evolution. We use idempotent startup migrations that add columns and tables without dropping data — safe for development iteration."</a:t>
            </a:r>
          </a:p>
          <a:p/>
          <a:p>
            <a:r>
              <a:t>TRANSITION: "What makes Cortex AI different?"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Innovation and Differentiation (30 seconds)</a:t>
            </a:r>
          </a:p>
          <a:p/>
          <a:p>
            <a:r>
              <a:t>"What makes Cortex AI different?</a:t>
            </a:r>
          </a:p>
          <a:p/>
          <a:p>
            <a:r>
              <a:t>It's local-first — transcripts stay on your infrastructure. It goes beyond summarization — extracting eight categories of structured knowledge. It converts conversation into execution — with accountable owners and deadlines.</a:t>
            </a:r>
          </a:p>
          <a:p/>
          <a:p>
            <a:r>
              <a:t>The human approval gate ensures nothing is auto-completed. Every processing stage is tracked persistently. And the LLM provider is swappable with a single environment variable.</a:t>
            </a:r>
          </a:p>
          <a:p/>
          <a:p>
            <a:r>
              <a:t>This isn't just a meeting summarizer. It's a meeting intelligence and execution tracking platform."</a:t>
            </a:r>
          </a:p>
          <a:p/>
          <a:p>
            <a:r>
              <a:t>TRANSITION: "Here's our roadmap."</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Roadmap (30 seconds)</a:t>
            </a:r>
          </a:p>
          <a:p/>
          <a:p>
            <a:r>
              <a:t>"Three phases of future work.</a:t>
            </a:r>
          </a:p>
          <a:p/>
          <a:p>
            <a:r>
              <a:t>Near term: background processing using the Celery infrastructure we've already scaffolded, live progress updates via WebSocket or SSE, retry and cancel controls in the UI, and meeting report exports.</a:t>
            </a:r>
          </a:p>
          <a:p/>
          <a:p>
            <a:r>
              <a:t>Mid term: ingestion from Google Meet, Zoom, and Teams. Integrations with Slack, Jira, and Notion. Semantic vector search using the Qdrant instance we've provisioned.</a:t>
            </a:r>
          </a:p>
          <a:p/>
          <a:p>
            <a:r>
              <a:t>Long term: an organizational knowledge graph in Neo4j for cross-meeting dependency tracking, team participation analytics, and policy compliance workflows.</a:t>
            </a:r>
          </a:p>
          <a:p/>
          <a:p>
            <a:r>
              <a:t>All of these build on infrastructure we've already provisioned but haven't fully integrated yet."</a:t>
            </a:r>
          </a:p>
          <a:p/>
          <a:p>
            <a:r>
              <a:t>TRANSITION: "Let me wrap up."</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Closing (30 seconds)</a:t>
            </a:r>
          </a:p>
          <a:p/>
          <a:p>
            <a:r>
              <a:t>"Cortex AI ensures meetings do not end as transcripts — they become decisions, owners, and measurable execution.</a:t>
            </a:r>
          </a:p>
          <a:p/>
          <a:p>
            <a:r>
              <a:t>If time permits, I'd like to do a quick live demo: log in, create a meeting, paste a sample transcript, process it with the local AI, review the extracted intelligence, check the workflow status, explore the analytics, and verify settings persistence.</a:t>
            </a:r>
          </a:p>
          <a:p/>
          <a:p>
            <a:r>
              <a:t>Thank you for your time. The repository is open on GitHub. We'd be happy to take questions."</a:t>
            </a:r>
          </a:p>
          <a:p/>
          <a:p>
            <a:r>
              <a:t>DEMO CUE: If time remains, switch to browser and run through the demo sequence.</a:t>
            </a:r>
          </a:p>
          <a:p>
            <a:r>
              <a:t>Use the Project Atlas transcript from the speaker notes document.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Oval 1"/>
          <p:cNvSpPr/>
          <p:nvPr/>
        </p:nvSpPr>
        <p:spPr>
          <a:xfrm>
            <a:off x="1371600" y="914400"/>
            <a:ext cx="2286000" cy="2286000"/>
          </a:xfrm>
          <a:prstGeom prst="ellipse">
            <a:avLst/>
          </a:prstGeom>
          <a:solidFill>
            <a:srgbClr val="141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4114800"/>
            <a:ext cx="2743200" cy="2743200"/>
          </a:xfrm>
          <a:prstGeom prst="ellipse">
            <a:avLst/>
          </a:prstGeom>
          <a:solidFill>
            <a:srgbClr val="12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457200"/>
            <a:ext cx="1371600" cy="1371600"/>
          </a:xfrm>
          <a:prstGeom prst="ellipse">
            <a:avLst/>
          </a:prstGeom>
          <a:solidFill>
            <a:srgbClr val="16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0" y="2286000"/>
            <a:ext cx="3931920" cy="50800"/>
          </a:xfrm>
          <a:prstGeom prst="roundRect">
            <a:avLst>
              <a:gd name="adj" fmla="val 5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2468880"/>
            <a:ext cx="8503920" cy="1097280"/>
          </a:xfrm>
          <a:prstGeom prst="rect">
            <a:avLst/>
          </a:prstGeom>
          <a:noFill/>
        </p:spPr>
        <p:txBody>
          <a:bodyPr wrap="square">
            <a:spAutoFit/>
          </a:bodyPr>
          <a:lstStyle/>
          <a:p>
            <a:pPr algn="ctr">
              <a:defRPr sz="5400" b="1">
                <a:solidFill>
                  <a:srgbClr val="FFFFFF"/>
                </a:solidFill>
                <a:latin typeface="Calibri"/>
              </a:defRPr>
            </a:pPr>
            <a:r>
              <a:t>CORTEX AI</a:t>
            </a:r>
          </a:p>
        </p:txBody>
      </p:sp>
      <p:sp>
        <p:nvSpPr>
          <p:cNvPr id="7" name="TextBox 6"/>
          <p:cNvSpPr txBox="1"/>
          <p:nvPr/>
        </p:nvSpPr>
        <p:spPr>
          <a:xfrm>
            <a:off x="1828800" y="3474720"/>
            <a:ext cx="8503920" cy="640080"/>
          </a:xfrm>
          <a:prstGeom prst="rect">
            <a:avLst/>
          </a:prstGeom>
          <a:noFill/>
        </p:spPr>
        <p:txBody>
          <a:bodyPr wrap="square">
            <a:spAutoFit/>
          </a:bodyPr>
          <a:lstStyle/>
          <a:p>
            <a:pPr algn="ctr">
              <a:defRPr sz="2200" b="0">
                <a:solidFill>
                  <a:srgbClr val="94A3B8"/>
                </a:solidFill>
                <a:latin typeface="Calibri"/>
              </a:defRPr>
            </a:pPr>
            <a:r>
              <a:t>Private Meeting Intelligence for Actionable Decision-Making</a:t>
            </a:r>
          </a:p>
        </p:txBody>
      </p:sp>
      <p:sp>
        <p:nvSpPr>
          <p:cNvPr id="8" name="TextBox 7"/>
          <p:cNvSpPr txBox="1"/>
          <p:nvPr/>
        </p:nvSpPr>
        <p:spPr>
          <a:xfrm>
            <a:off x="1828800" y="4206240"/>
            <a:ext cx="8503920" cy="548640"/>
          </a:xfrm>
          <a:prstGeom prst="rect">
            <a:avLst/>
          </a:prstGeom>
          <a:noFill/>
        </p:spPr>
        <p:txBody>
          <a:bodyPr wrap="square">
            <a:spAutoFit/>
          </a:bodyPr>
          <a:lstStyle/>
          <a:p>
            <a:pPr algn="ctr">
              <a:defRPr sz="1600" b="0">
                <a:solidFill>
                  <a:srgbClr val="8B5CF6"/>
                </a:solidFill>
                <a:latin typeface="Calibri"/>
              </a:defRPr>
            </a:pPr>
            <a:r>
              <a:t>Turn every meeting transcript into structured decisions, tasks,</a:t>
            </a:r>
            <a:br/>
            <a:r>
              <a:t>risks and accountable workflows.</a:t>
            </a:r>
          </a:p>
        </p:txBody>
      </p:sp>
      <p:sp>
        <p:nvSpPr>
          <p:cNvPr id="9" name="TextBox 8"/>
          <p:cNvSpPr txBox="1"/>
          <p:nvPr/>
        </p:nvSpPr>
        <p:spPr>
          <a:xfrm>
            <a:off x="1828800" y="5120640"/>
            <a:ext cx="8503920" cy="457200"/>
          </a:xfrm>
          <a:prstGeom prst="rect">
            <a:avLst/>
          </a:prstGeom>
          <a:noFill/>
        </p:spPr>
        <p:txBody>
          <a:bodyPr wrap="square">
            <a:spAutoFit/>
          </a:bodyPr>
          <a:lstStyle/>
          <a:p>
            <a:pPr algn="ctr">
              <a:defRPr sz="1400" b="0">
                <a:solidFill>
                  <a:srgbClr val="94A3B8"/>
                </a:solidFill>
                <a:latin typeface="Calibri"/>
              </a:defRPr>
            </a:pPr>
            <a:r>
              <a:t>github.com/harshan490/CORTEX-AI</a:t>
            </a:r>
          </a:p>
        </p:txBody>
      </p:sp>
      <p:sp>
        <p:nvSpPr>
          <p:cNvPr id="10" name="TextBox 9"/>
          <p:cNvSpPr txBox="1"/>
          <p:nvPr/>
        </p:nvSpPr>
        <p:spPr>
          <a:xfrm>
            <a:off x="1828800" y="5669280"/>
            <a:ext cx="8503920" cy="365760"/>
          </a:xfrm>
          <a:prstGeom prst="rect">
            <a:avLst/>
          </a:prstGeom>
          <a:noFill/>
        </p:spPr>
        <p:txBody>
          <a:bodyPr wrap="square">
            <a:spAutoFit/>
          </a:bodyPr>
          <a:lstStyle/>
          <a:p>
            <a:pPr algn="ctr">
              <a:defRPr sz="1400" b="0">
                <a:solidFill>
                  <a:srgbClr val="94A3B8"/>
                </a:solidFill>
                <a:latin typeface="Calibri"/>
              </a:defRPr>
            </a:pPr>
            <a:r>
              <a:t>harshan490  |  divya-m984  |  Nandhini Raju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The Problem</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4572000" cy="457200"/>
          </a:xfrm>
          <a:prstGeom prst="rect">
            <a:avLst/>
          </a:prstGeom>
          <a:noFill/>
        </p:spPr>
        <p:txBody>
          <a:bodyPr wrap="square">
            <a:spAutoFit/>
          </a:bodyPr>
          <a:lstStyle/>
          <a:p>
            <a:pPr algn="l">
              <a:defRPr sz="2000" b="0">
                <a:solidFill>
                  <a:srgbClr val="94A3B8"/>
                </a:solidFill>
                <a:latin typeface="Calibri"/>
              </a:defRPr>
            </a:pPr>
            <a:r>
              <a:t>Meetings generate knowledge. Organizations lose it.</a:t>
            </a:r>
          </a:p>
        </p:txBody>
      </p:sp>
      <p:sp>
        <p:nvSpPr>
          <p:cNvPr id="5" name="Rounded Rectangle 4"/>
          <p:cNvSpPr/>
          <p:nvPr/>
        </p:nvSpPr>
        <p:spPr>
          <a:xfrm>
            <a:off x="731520" y="2103120"/>
            <a:ext cx="3291840" cy="17373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103120"/>
            <a:ext cx="3291840" cy="381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86000"/>
            <a:ext cx="2926080" cy="365760"/>
          </a:xfrm>
          <a:prstGeom prst="rect">
            <a:avLst/>
          </a:prstGeom>
          <a:noFill/>
        </p:spPr>
        <p:txBody>
          <a:bodyPr wrap="square">
            <a:spAutoFit/>
          </a:bodyPr>
          <a:lstStyle/>
          <a:p>
            <a:pPr algn="l">
              <a:defRPr sz="1800" b="1">
                <a:solidFill>
                  <a:srgbClr val="EF4444"/>
                </a:solidFill>
                <a:latin typeface="Calibri"/>
              </a:defRPr>
            </a:pPr>
            <a:r>
              <a:t>Buried Decisions</a:t>
            </a:r>
          </a:p>
        </p:txBody>
      </p:sp>
      <p:sp>
        <p:nvSpPr>
          <p:cNvPr id="8" name="TextBox 7"/>
          <p:cNvSpPr txBox="1"/>
          <p:nvPr/>
        </p:nvSpPr>
        <p:spPr>
          <a:xfrm>
            <a:off x="914400" y="2743200"/>
            <a:ext cx="2926080" cy="914400"/>
          </a:xfrm>
          <a:prstGeom prst="rect">
            <a:avLst/>
          </a:prstGeom>
          <a:noFill/>
        </p:spPr>
        <p:txBody>
          <a:bodyPr wrap="square">
            <a:spAutoFit/>
          </a:bodyPr>
          <a:lstStyle/>
          <a:p>
            <a:pPr algn="l">
              <a:defRPr sz="1400" b="0">
                <a:solidFill>
                  <a:srgbClr val="CBD5E1"/>
                </a:solidFill>
                <a:latin typeface="Calibri"/>
              </a:defRPr>
            </a:pPr>
            <a:r>
              <a:t>Critical decisions are lost in</a:t>
            </a:r>
            <a:br/>
            <a:r>
              <a:t>hours of transcript text</a:t>
            </a:r>
          </a:p>
        </p:txBody>
      </p:sp>
      <p:sp>
        <p:nvSpPr>
          <p:cNvPr id="9" name="Rounded Rectangle 8"/>
          <p:cNvSpPr/>
          <p:nvPr/>
        </p:nvSpPr>
        <p:spPr>
          <a:xfrm>
            <a:off x="4389120" y="2103120"/>
            <a:ext cx="3291840" cy="17373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2103120"/>
            <a:ext cx="329184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286000"/>
            <a:ext cx="2926080" cy="365760"/>
          </a:xfrm>
          <a:prstGeom prst="rect">
            <a:avLst/>
          </a:prstGeom>
          <a:noFill/>
        </p:spPr>
        <p:txBody>
          <a:bodyPr wrap="square">
            <a:spAutoFit/>
          </a:bodyPr>
          <a:lstStyle/>
          <a:p>
            <a:pPr algn="l">
              <a:defRPr sz="1800" b="1">
                <a:solidFill>
                  <a:srgbClr val="F59E0B"/>
                </a:solidFill>
                <a:latin typeface="Calibri"/>
              </a:defRPr>
            </a:pPr>
            <a:r>
              <a:t>Orphaned Action Items</a:t>
            </a:r>
          </a:p>
        </p:txBody>
      </p:sp>
      <p:sp>
        <p:nvSpPr>
          <p:cNvPr id="12" name="TextBox 11"/>
          <p:cNvSpPr txBox="1"/>
          <p:nvPr/>
        </p:nvSpPr>
        <p:spPr>
          <a:xfrm>
            <a:off x="4572000" y="2743200"/>
            <a:ext cx="2926080" cy="914400"/>
          </a:xfrm>
          <a:prstGeom prst="rect">
            <a:avLst/>
          </a:prstGeom>
          <a:noFill/>
        </p:spPr>
        <p:txBody>
          <a:bodyPr wrap="square">
            <a:spAutoFit/>
          </a:bodyPr>
          <a:lstStyle/>
          <a:p>
            <a:pPr algn="l">
              <a:defRPr sz="1400" b="0">
                <a:solidFill>
                  <a:srgbClr val="CBD5E1"/>
                </a:solidFill>
                <a:latin typeface="Calibri"/>
              </a:defRPr>
            </a:pPr>
            <a:r>
              <a:t>Tasks discussed but never</a:t>
            </a:r>
            <a:br/>
            <a:r>
              <a:t>assigned or tracked</a:t>
            </a:r>
          </a:p>
        </p:txBody>
      </p:sp>
      <p:sp>
        <p:nvSpPr>
          <p:cNvPr id="13" name="Rounded Rectangle 12"/>
          <p:cNvSpPr/>
          <p:nvPr/>
        </p:nvSpPr>
        <p:spPr>
          <a:xfrm>
            <a:off x="8046720" y="2103120"/>
            <a:ext cx="3291840" cy="17373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2103120"/>
            <a:ext cx="3291840" cy="381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2286000"/>
            <a:ext cx="2926080" cy="365760"/>
          </a:xfrm>
          <a:prstGeom prst="rect">
            <a:avLst/>
          </a:prstGeom>
          <a:noFill/>
        </p:spPr>
        <p:txBody>
          <a:bodyPr wrap="square">
            <a:spAutoFit/>
          </a:bodyPr>
          <a:lstStyle/>
          <a:p>
            <a:pPr algn="l">
              <a:defRPr sz="1800" b="1">
                <a:solidFill>
                  <a:srgbClr val="EC4899"/>
                </a:solidFill>
                <a:latin typeface="Calibri"/>
              </a:defRPr>
            </a:pPr>
            <a:r>
              <a:t>Forgotten Deadlines</a:t>
            </a:r>
          </a:p>
        </p:txBody>
      </p:sp>
      <p:sp>
        <p:nvSpPr>
          <p:cNvPr id="16" name="TextBox 15"/>
          <p:cNvSpPr txBox="1"/>
          <p:nvPr/>
        </p:nvSpPr>
        <p:spPr>
          <a:xfrm>
            <a:off x="8229600" y="2743200"/>
            <a:ext cx="2926080" cy="914400"/>
          </a:xfrm>
          <a:prstGeom prst="rect">
            <a:avLst/>
          </a:prstGeom>
          <a:noFill/>
        </p:spPr>
        <p:txBody>
          <a:bodyPr wrap="square">
            <a:spAutoFit/>
          </a:bodyPr>
          <a:lstStyle/>
          <a:p>
            <a:pPr algn="l">
              <a:defRPr sz="1400" b="0">
                <a:solidFill>
                  <a:srgbClr val="CBD5E1"/>
                </a:solidFill>
                <a:latin typeface="Calibri"/>
              </a:defRPr>
            </a:pPr>
            <a:r>
              <a:t>Dependencies and timelines</a:t>
            </a:r>
            <a:br/>
            <a:r>
              <a:t>fade from memory</a:t>
            </a:r>
          </a:p>
        </p:txBody>
      </p:sp>
      <p:sp>
        <p:nvSpPr>
          <p:cNvPr id="17" name="Rounded Rectangle 16"/>
          <p:cNvSpPr/>
          <p:nvPr/>
        </p:nvSpPr>
        <p:spPr>
          <a:xfrm>
            <a:off x="731520" y="4114800"/>
            <a:ext cx="3291840" cy="17373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114800"/>
            <a:ext cx="329184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297680"/>
            <a:ext cx="2926080" cy="365760"/>
          </a:xfrm>
          <a:prstGeom prst="rect">
            <a:avLst/>
          </a:prstGeom>
          <a:noFill/>
        </p:spPr>
        <p:txBody>
          <a:bodyPr wrap="square">
            <a:spAutoFit/>
          </a:bodyPr>
          <a:lstStyle/>
          <a:p>
            <a:pPr algn="l">
              <a:defRPr sz="1800" b="1">
                <a:solidFill>
                  <a:srgbClr val="7C3AED"/>
                </a:solidFill>
                <a:latin typeface="Calibri"/>
              </a:defRPr>
            </a:pPr>
            <a:r>
              <a:t>Manual Follow-Up</a:t>
            </a:r>
          </a:p>
        </p:txBody>
      </p:sp>
      <p:sp>
        <p:nvSpPr>
          <p:cNvPr id="20" name="TextBox 19"/>
          <p:cNvSpPr txBox="1"/>
          <p:nvPr/>
        </p:nvSpPr>
        <p:spPr>
          <a:xfrm>
            <a:off x="914400" y="4754880"/>
            <a:ext cx="2926080" cy="914400"/>
          </a:xfrm>
          <a:prstGeom prst="rect">
            <a:avLst/>
          </a:prstGeom>
          <a:noFill/>
        </p:spPr>
        <p:txBody>
          <a:bodyPr wrap="square">
            <a:spAutoFit/>
          </a:bodyPr>
          <a:lstStyle/>
          <a:p>
            <a:pPr algn="l">
              <a:defRPr sz="1400" b="0">
                <a:solidFill>
                  <a:srgbClr val="CBD5E1"/>
                </a:solidFill>
                <a:latin typeface="Calibri"/>
              </a:defRPr>
            </a:pPr>
            <a:r>
              <a:t>Teams spend hours re-reading</a:t>
            </a:r>
            <a:br/>
            <a:r>
              <a:t>transcripts to find commitments</a:t>
            </a:r>
          </a:p>
        </p:txBody>
      </p:sp>
      <p:sp>
        <p:nvSpPr>
          <p:cNvPr id="21" name="Rounded Rectangle 20"/>
          <p:cNvSpPr/>
          <p:nvPr/>
        </p:nvSpPr>
        <p:spPr>
          <a:xfrm>
            <a:off x="4389120" y="4114800"/>
            <a:ext cx="3291840" cy="17373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4114800"/>
            <a:ext cx="329184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4297680"/>
            <a:ext cx="2926080" cy="365760"/>
          </a:xfrm>
          <a:prstGeom prst="rect">
            <a:avLst/>
          </a:prstGeom>
          <a:noFill/>
        </p:spPr>
        <p:txBody>
          <a:bodyPr wrap="square">
            <a:spAutoFit/>
          </a:bodyPr>
          <a:lstStyle/>
          <a:p>
            <a:pPr algn="l">
              <a:defRPr sz="1800" b="1">
                <a:solidFill>
                  <a:srgbClr val="06B6D4"/>
                </a:solidFill>
                <a:latin typeface="Calibri"/>
              </a:defRPr>
            </a:pPr>
            <a:r>
              <a:t>Privacy Concerns</a:t>
            </a:r>
          </a:p>
        </p:txBody>
      </p:sp>
      <p:sp>
        <p:nvSpPr>
          <p:cNvPr id="24" name="TextBox 23"/>
          <p:cNvSpPr txBox="1"/>
          <p:nvPr/>
        </p:nvSpPr>
        <p:spPr>
          <a:xfrm>
            <a:off x="4572000" y="4754880"/>
            <a:ext cx="2926080" cy="914400"/>
          </a:xfrm>
          <a:prstGeom prst="rect">
            <a:avLst/>
          </a:prstGeom>
          <a:noFill/>
        </p:spPr>
        <p:txBody>
          <a:bodyPr wrap="square">
            <a:spAutoFit/>
          </a:bodyPr>
          <a:lstStyle/>
          <a:p>
            <a:pPr algn="l">
              <a:defRPr sz="1400" b="0">
                <a:solidFill>
                  <a:srgbClr val="CBD5E1"/>
                </a:solidFill>
                <a:latin typeface="Calibri"/>
              </a:defRPr>
            </a:pPr>
            <a:r>
              <a:t>Cloud AI means sensitive meeting</a:t>
            </a:r>
            <a:br/>
            <a:r>
              <a:t>content leaves your control</a:t>
            </a:r>
          </a:p>
        </p:txBody>
      </p:sp>
      <p:sp>
        <p:nvSpPr>
          <p:cNvPr id="25" name="Rounded Rectangle 24"/>
          <p:cNvSpPr/>
          <p:nvPr/>
        </p:nvSpPr>
        <p:spPr>
          <a:xfrm>
            <a:off x="8046720" y="4114800"/>
            <a:ext cx="3291840" cy="17373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20" y="4114800"/>
            <a:ext cx="329184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4297680"/>
            <a:ext cx="2926080" cy="365760"/>
          </a:xfrm>
          <a:prstGeom prst="rect">
            <a:avLst/>
          </a:prstGeom>
          <a:noFill/>
        </p:spPr>
        <p:txBody>
          <a:bodyPr wrap="square">
            <a:spAutoFit/>
          </a:bodyPr>
          <a:lstStyle/>
          <a:p>
            <a:pPr algn="l">
              <a:defRPr sz="1800" b="1">
                <a:solidFill>
                  <a:srgbClr val="3B82F6"/>
                </a:solidFill>
                <a:latin typeface="Calibri"/>
              </a:defRPr>
            </a:pPr>
            <a:r>
              <a:t>No Execution Visibility</a:t>
            </a:r>
          </a:p>
        </p:txBody>
      </p:sp>
      <p:sp>
        <p:nvSpPr>
          <p:cNvPr id="28" name="TextBox 27"/>
          <p:cNvSpPr txBox="1"/>
          <p:nvPr/>
        </p:nvSpPr>
        <p:spPr>
          <a:xfrm>
            <a:off x="8229600" y="4754880"/>
            <a:ext cx="2926080" cy="914400"/>
          </a:xfrm>
          <a:prstGeom prst="rect">
            <a:avLst/>
          </a:prstGeom>
          <a:noFill/>
        </p:spPr>
        <p:txBody>
          <a:bodyPr wrap="square">
            <a:spAutoFit/>
          </a:bodyPr>
          <a:lstStyle/>
          <a:p>
            <a:pPr algn="l">
              <a:defRPr sz="1400" b="0">
                <a:solidFill>
                  <a:srgbClr val="CBD5E1"/>
                </a:solidFill>
                <a:latin typeface="Calibri"/>
              </a:defRPr>
            </a:pPr>
            <a:r>
              <a:t>No way to track whether</a:t>
            </a:r>
            <a:br/>
            <a:r>
              <a:t>meeting outcomes were delivered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Our Solution</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 y="1828800"/>
            <a:ext cx="1097280" cy="10972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Transcript</a:t>
            </a:r>
            <a:br/>
            <a:r>
              <a:t>Input</a:t>
            </a:r>
          </a:p>
        </p:txBody>
      </p:sp>
      <p:sp>
        <p:nvSpPr>
          <p:cNvPr id="5" name="Right Arrow 4"/>
          <p:cNvSpPr/>
          <p:nvPr/>
        </p:nvSpPr>
        <p:spPr>
          <a:xfrm>
            <a:off x="2194560" y="2240280"/>
            <a:ext cx="54864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91840" y="1828800"/>
            <a:ext cx="1097280" cy="109728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Local AI</a:t>
            </a:r>
            <a:br/>
            <a:r>
              <a:t>Extraction</a:t>
            </a:r>
          </a:p>
        </p:txBody>
      </p:sp>
      <p:sp>
        <p:nvSpPr>
          <p:cNvPr id="7" name="Right Arrow 6"/>
          <p:cNvSpPr/>
          <p:nvPr/>
        </p:nvSpPr>
        <p:spPr>
          <a:xfrm>
            <a:off x="4480560" y="2240280"/>
            <a:ext cx="54864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577840" y="1828800"/>
            <a:ext cx="1097280" cy="10972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Structured</a:t>
            </a:r>
            <a:br/>
            <a:r>
              <a:t>Knowledge</a:t>
            </a:r>
          </a:p>
        </p:txBody>
      </p:sp>
      <p:sp>
        <p:nvSpPr>
          <p:cNvPr id="9" name="Right Arrow 8"/>
          <p:cNvSpPr/>
          <p:nvPr/>
        </p:nvSpPr>
        <p:spPr>
          <a:xfrm>
            <a:off x="6766560" y="2240280"/>
            <a:ext cx="54864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863840" y="1828800"/>
            <a:ext cx="1097280" cy="10972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Human</a:t>
            </a:r>
            <a:br/>
            <a:r>
              <a:t>Review</a:t>
            </a:r>
          </a:p>
        </p:txBody>
      </p:sp>
      <p:sp>
        <p:nvSpPr>
          <p:cNvPr id="11" name="Right Arrow 10"/>
          <p:cNvSpPr/>
          <p:nvPr/>
        </p:nvSpPr>
        <p:spPr>
          <a:xfrm>
            <a:off x="9052560" y="2240280"/>
            <a:ext cx="54864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149840" y="1828800"/>
            <a:ext cx="1097280" cy="109728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Workflow &amp;</a:t>
            </a:r>
            <a:br/>
            <a:r>
              <a:t>Analytics</a:t>
            </a:r>
          </a:p>
        </p:txBody>
      </p:sp>
      <p:sp>
        <p:nvSpPr>
          <p:cNvPr id="13" name="Rounded Rectangle 12"/>
          <p:cNvSpPr/>
          <p:nvPr/>
        </p:nvSpPr>
        <p:spPr>
          <a:xfrm>
            <a:off x="457200" y="3657600"/>
            <a:ext cx="2697480" cy="22860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657600"/>
            <a:ext cx="269748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840480"/>
            <a:ext cx="2423160" cy="365760"/>
          </a:xfrm>
          <a:prstGeom prst="rect">
            <a:avLst/>
          </a:prstGeom>
          <a:noFill/>
        </p:spPr>
        <p:txBody>
          <a:bodyPr wrap="square">
            <a:spAutoFit/>
          </a:bodyPr>
          <a:lstStyle/>
          <a:p>
            <a:pPr algn="l">
              <a:defRPr sz="1800" b="1">
                <a:solidFill>
                  <a:srgbClr val="10B981"/>
                </a:solidFill>
                <a:latin typeface="Calibri"/>
              </a:defRPr>
            </a:pPr>
            <a:r>
              <a:t>Privacy-First</a:t>
            </a:r>
          </a:p>
        </p:txBody>
      </p:sp>
      <p:sp>
        <p:nvSpPr>
          <p:cNvPr id="16" name="TextBox 15"/>
          <p:cNvSpPr txBox="1"/>
          <p:nvPr/>
        </p:nvSpPr>
        <p:spPr>
          <a:xfrm>
            <a:off x="594360" y="4343400"/>
            <a:ext cx="2423160" cy="1371600"/>
          </a:xfrm>
          <a:prstGeom prst="rect">
            <a:avLst/>
          </a:prstGeom>
          <a:noFill/>
        </p:spPr>
        <p:txBody>
          <a:bodyPr wrap="square">
            <a:spAutoFit/>
          </a:bodyPr>
          <a:lstStyle/>
          <a:p>
            <a:pPr algn="l">
              <a:defRPr sz="1400" b="0">
                <a:solidFill>
                  <a:srgbClr val="CBD5E1"/>
                </a:solidFill>
                <a:latin typeface="Calibri"/>
              </a:defRPr>
            </a:pPr>
            <a:r>
              <a:t>Ollama runs locally — transcripts</a:t>
            </a:r>
            <a:br/>
            <a:r>
              <a:t>never leave your machine</a:t>
            </a:r>
          </a:p>
        </p:txBody>
      </p:sp>
      <p:sp>
        <p:nvSpPr>
          <p:cNvPr id="17" name="Rounded Rectangle 16"/>
          <p:cNvSpPr/>
          <p:nvPr/>
        </p:nvSpPr>
        <p:spPr>
          <a:xfrm>
            <a:off x="3337560" y="3657600"/>
            <a:ext cx="2697480" cy="22860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37560" y="3657600"/>
            <a:ext cx="269748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3840480"/>
            <a:ext cx="2423160" cy="365760"/>
          </a:xfrm>
          <a:prstGeom prst="rect">
            <a:avLst/>
          </a:prstGeom>
          <a:noFill/>
        </p:spPr>
        <p:txBody>
          <a:bodyPr wrap="square">
            <a:spAutoFit/>
          </a:bodyPr>
          <a:lstStyle/>
          <a:p>
            <a:pPr algn="l">
              <a:defRPr sz="1800" b="1">
                <a:solidFill>
                  <a:srgbClr val="7C3AED"/>
                </a:solidFill>
                <a:latin typeface="Calibri"/>
              </a:defRPr>
            </a:pPr>
            <a:r>
              <a:t>Beyond Summarization</a:t>
            </a:r>
          </a:p>
        </p:txBody>
      </p:sp>
      <p:sp>
        <p:nvSpPr>
          <p:cNvPr id="20" name="TextBox 19"/>
          <p:cNvSpPr txBox="1"/>
          <p:nvPr/>
        </p:nvSpPr>
        <p:spPr>
          <a:xfrm>
            <a:off x="3474720" y="4343400"/>
            <a:ext cx="2423160" cy="1371600"/>
          </a:xfrm>
          <a:prstGeom prst="rect">
            <a:avLst/>
          </a:prstGeom>
          <a:noFill/>
        </p:spPr>
        <p:txBody>
          <a:bodyPr wrap="square">
            <a:spAutoFit/>
          </a:bodyPr>
          <a:lstStyle/>
          <a:p>
            <a:pPr algn="l">
              <a:defRPr sz="1400" b="0">
                <a:solidFill>
                  <a:srgbClr val="CBD5E1"/>
                </a:solidFill>
                <a:latin typeface="Calibri"/>
              </a:defRPr>
            </a:pPr>
            <a:r>
              <a:t>Extracts decisions, tasks, risks,</a:t>
            </a:r>
            <a:br/>
            <a:r>
              <a:t>dependencies, and clarifications</a:t>
            </a:r>
          </a:p>
        </p:txBody>
      </p:sp>
      <p:sp>
        <p:nvSpPr>
          <p:cNvPr id="21" name="Rounded Rectangle 20"/>
          <p:cNvSpPr/>
          <p:nvPr/>
        </p:nvSpPr>
        <p:spPr>
          <a:xfrm>
            <a:off x="6217920" y="3657600"/>
            <a:ext cx="2697480" cy="22860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657600"/>
            <a:ext cx="269748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3840480"/>
            <a:ext cx="2423160" cy="365760"/>
          </a:xfrm>
          <a:prstGeom prst="rect">
            <a:avLst/>
          </a:prstGeom>
          <a:noFill/>
        </p:spPr>
        <p:txBody>
          <a:bodyPr wrap="square">
            <a:spAutoFit/>
          </a:bodyPr>
          <a:lstStyle/>
          <a:p>
            <a:pPr algn="l">
              <a:defRPr sz="1800" b="1">
                <a:solidFill>
                  <a:srgbClr val="3B82F6"/>
                </a:solidFill>
                <a:latin typeface="Calibri"/>
              </a:defRPr>
            </a:pPr>
            <a:r>
              <a:t>Human-in-the-Loop</a:t>
            </a:r>
          </a:p>
        </p:txBody>
      </p:sp>
      <p:sp>
        <p:nvSpPr>
          <p:cNvPr id="24" name="TextBox 23"/>
          <p:cNvSpPr txBox="1"/>
          <p:nvPr/>
        </p:nvSpPr>
        <p:spPr>
          <a:xfrm>
            <a:off x="6355080" y="4343400"/>
            <a:ext cx="2423160" cy="1371600"/>
          </a:xfrm>
          <a:prstGeom prst="rect">
            <a:avLst/>
          </a:prstGeom>
          <a:noFill/>
        </p:spPr>
        <p:txBody>
          <a:bodyPr wrap="square">
            <a:spAutoFit/>
          </a:bodyPr>
          <a:lstStyle/>
          <a:p>
            <a:pPr algn="l">
              <a:defRPr sz="1400" b="0">
                <a:solidFill>
                  <a:srgbClr val="CBD5E1"/>
                </a:solidFill>
                <a:latin typeface="Calibri"/>
              </a:defRPr>
            </a:pPr>
            <a:r>
              <a:t>AI extracts, humans approve —</a:t>
            </a:r>
            <a:br/>
            <a:r>
              <a:t>nothing is auto-completed</a:t>
            </a:r>
          </a:p>
        </p:txBody>
      </p:sp>
      <p:sp>
        <p:nvSpPr>
          <p:cNvPr id="25" name="Rounded Rectangle 24"/>
          <p:cNvSpPr/>
          <p:nvPr/>
        </p:nvSpPr>
        <p:spPr>
          <a:xfrm>
            <a:off x="9098280" y="3657600"/>
            <a:ext cx="2697480" cy="22860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8280" y="3657600"/>
            <a:ext cx="269748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3840480"/>
            <a:ext cx="2423160" cy="365760"/>
          </a:xfrm>
          <a:prstGeom prst="rect">
            <a:avLst/>
          </a:prstGeom>
          <a:noFill/>
        </p:spPr>
        <p:txBody>
          <a:bodyPr wrap="square">
            <a:spAutoFit/>
          </a:bodyPr>
          <a:lstStyle/>
          <a:p>
            <a:pPr algn="l">
              <a:defRPr sz="1800" b="1">
                <a:solidFill>
                  <a:srgbClr val="06B6D4"/>
                </a:solidFill>
                <a:latin typeface="Calibri"/>
              </a:defRPr>
            </a:pPr>
            <a:r>
              <a:t>Execution Tracking</a:t>
            </a:r>
          </a:p>
        </p:txBody>
      </p:sp>
      <p:sp>
        <p:nvSpPr>
          <p:cNvPr id="28" name="TextBox 27"/>
          <p:cNvSpPr txBox="1"/>
          <p:nvPr/>
        </p:nvSpPr>
        <p:spPr>
          <a:xfrm>
            <a:off x="9235440" y="4343400"/>
            <a:ext cx="2423160" cy="1371600"/>
          </a:xfrm>
          <a:prstGeom prst="rect">
            <a:avLst/>
          </a:prstGeom>
          <a:noFill/>
        </p:spPr>
        <p:txBody>
          <a:bodyPr wrap="square">
            <a:spAutoFit/>
          </a:bodyPr>
          <a:lstStyle/>
          <a:p>
            <a:pPr algn="l">
              <a:defRPr sz="1400" b="0">
                <a:solidFill>
                  <a:srgbClr val="CBD5E1"/>
                </a:solidFill>
                <a:latin typeface="Calibri"/>
              </a:defRPr>
            </a:pPr>
            <a:r>
              <a:t>Workflow pipeline with progress,</a:t>
            </a:r>
            <a:br/>
            <a:r>
              <a:t>analytics, and history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Product Walkthrough</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291840" cy="201168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82880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1</a:t>
            </a:r>
          </a:p>
        </p:txBody>
      </p:sp>
      <p:sp>
        <p:nvSpPr>
          <p:cNvPr id="6" name="TextBox 5"/>
          <p:cNvSpPr txBox="1"/>
          <p:nvPr/>
        </p:nvSpPr>
        <p:spPr>
          <a:xfrm>
            <a:off x="1463040" y="1828800"/>
            <a:ext cx="2377440" cy="365760"/>
          </a:xfrm>
          <a:prstGeom prst="rect">
            <a:avLst/>
          </a:prstGeom>
          <a:noFill/>
        </p:spPr>
        <p:txBody>
          <a:bodyPr wrap="square">
            <a:spAutoFit/>
          </a:bodyPr>
          <a:lstStyle/>
          <a:p>
            <a:pPr algn="l">
              <a:defRPr sz="2000" b="1">
                <a:solidFill>
                  <a:srgbClr val="FFFFFF"/>
                </a:solidFill>
                <a:latin typeface="Calibri"/>
              </a:defRPr>
            </a:pPr>
            <a:r>
              <a:t>Create Meeting</a:t>
            </a:r>
          </a:p>
        </p:txBody>
      </p:sp>
      <p:sp>
        <p:nvSpPr>
          <p:cNvPr id="7" name="TextBox 6"/>
          <p:cNvSpPr txBox="1"/>
          <p:nvPr/>
        </p:nvSpPr>
        <p:spPr>
          <a:xfrm>
            <a:off x="1463040" y="2286000"/>
            <a:ext cx="2377440" cy="1097280"/>
          </a:xfrm>
          <a:prstGeom prst="rect">
            <a:avLst/>
          </a:prstGeom>
          <a:noFill/>
        </p:spPr>
        <p:txBody>
          <a:bodyPr wrap="square">
            <a:spAutoFit/>
          </a:bodyPr>
          <a:lstStyle/>
          <a:p>
            <a:pPr algn="l">
              <a:defRPr sz="1400" b="0">
                <a:solidFill>
                  <a:srgbClr val="CBD5E1"/>
                </a:solidFill>
                <a:latin typeface="Calibri"/>
              </a:defRPr>
            </a:pPr>
            <a:r>
              <a:t>Set title, date, and</a:t>
            </a:r>
            <a:br/>
            <a:r>
              <a:t>meeting details</a:t>
            </a:r>
          </a:p>
        </p:txBody>
      </p:sp>
      <p:sp>
        <p:nvSpPr>
          <p:cNvPr id="8" name="Rounded Rectangle 7"/>
          <p:cNvSpPr/>
          <p:nvPr/>
        </p:nvSpPr>
        <p:spPr>
          <a:xfrm>
            <a:off x="868680" y="2834640"/>
            <a:ext cx="3017520" cy="640080"/>
          </a:xfrm>
          <a:prstGeom prst="roundRect">
            <a:avLst>
              <a:gd name="adj" fmla="val 5000"/>
            </a:avLst>
          </a:prstGeom>
          <a:solidFill>
            <a:srgbClr val="1A1F30"/>
          </a:solidFill>
          <a:ln w="12700">
            <a:solidFill>
              <a:srgbClr val="2D3A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26080"/>
            <a:ext cx="3017520" cy="457200"/>
          </a:xfrm>
          <a:prstGeom prst="rect">
            <a:avLst/>
          </a:prstGeom>
          <a:noFill/>
        </p:spPr>
        <p:txBody>
          <a:bodyPr wrap="square">
            <a:spAutoFit/>
          </a:bodyPr>
          <a:lstStyle/>
          <a:p>
            <a:pPr algn="ctr">
              <a:defRPr sz="1100" b="0">
                <a:solidFill>
                  <a:srgbClr val="94A3B8"/>
                </a:solidFill>
                <a:latin typeface="Calibri"/>
              </a:defRPr>
            </a:pPr>
            <a:r>
              <a:t>[Screenshot Placeholder]</a:t>
            </a:r>
          </a:p>
        </p:txBody>
      </p:sp>
      <p:sp>
        <p:nvSpPr>
          <p:cNvPr id="10" name="Rounded Rectangle 9"/>
          <p:cNvSpPr/>
          <p:nvPr/>
        </p:nvSpPr>
        <p:spPr>
          <a:xfrm>
            <a:off x="4389120" y="1645920"/>
            <a:ext cx="3291840" cy="201168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80" y="1828800"/>
            <a:ext cx="457200" cy="45720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2</a:t>
            </a:r>
          </a:p>
        </p:txBody>
      </p:sp>
      <p:sp>
        <p:nvSpPr>
          <p:cNvPr id="12" name="TextBox 11"/>
          <p:cNvSpPr txBox="1"/>
          <p:nvPr/>
        </p:nvSpPr>
        <p:spPr>
          <a:xfrm>
            <a:off x="5120640" y="1828800"/>
            <a:ext cx="2377440" cy="365760"/>
          </a:xfrm>
          <a:prstGeom prst="rect">
            <a:avLst/>
          </a:prstGeom>
          <a:noFill/>
        </p:spPr>
        <p:txBody>
          <a:bodyPr wrap="square">
            <a:spAutoFit/>
          </a:bodyPr>
          <a:lstStyle/>
          <a:p>
            <a:pPr algn="l">
              <a:defRPr sz="2000" b="1">
                <a:solidFill>
                  <a:srgbClr val="FFFFFF"/>
                </a:solidFill>
                <a:latin typeface="Calibri"/>
              </a:defRPr>
            </a:pPr>
            <a:r>
              <a:t>Paste Transcript</a:t>
            </a:r>
          </a:p>
        </p:txBody>
      </p:sp>
      <p:sp>
        <p:nvSpPr>
          <p:cNvPr id="13" name="TextBox 12"/>
          <p:cNvSpPr txBox="1"/>
          <p:nvPr/>
        </p:nvSpPr>
        <p:spPr>
          <a:xfrm>
            <a:off x="5120640" y="2286000"/>
            <a:ext cx="2377440" cy="1097280"/>
          </a:xfrm>
          <a:prstGeom prst="rect">
            <a:avLst/>
          </a:prstGeom>
          <a:noFill/>
        </p:spPr>
        <p:txBody>
          <a:bodyPr wrap="square">
            <a:spAutoFit/>
          </a:bodyPr>
          <a:lstStyle/>
          <a:p>
            <a:pPr algn="l">
              <a:defRPr sz="1400" b="0">
                <a:solidFill>
                  <a:srgbClr val="CBD5E1"/>
                </a:solidFill>
                <a:latin typeface="Calibri"/>
              </a:defRPr>
            </a:pPr>
            <a:r>
              <a:t>Input raw meeting</a:t>
            </a:r>
            <a:br/>
            <a:r>
              <a:t>transcript text</a:t>
            </a:r>
          </a:p>
        </p:txBody>
      </p:sp>
      <p:sp>
        <p:nvSpPr>
          <p:cNvPr id="14" name="Rounded Rectangle 13"/>
          <p:cNvSpPr/>
          <p:nvPr/>
        </p:nvSpPr>
        <p:spPr>
          <a:xfrm>
            <a:off x="4526280" y="2834640"/>
            <a:ext cx="3017520" cy="640080"/>
          </a:xfrm>
          <a:prstGeom prst="roundRect">
            <a:avLst>
              <a:gd name="adj" fmla="val 5000"/>
            </a:avLst>
          </a:prstGeom>
          <a:solidFill>
            <a:srgbClr val="1A1F30"/>
          </a:solidFill>
          <a:ln w="12700">
            <a:solidFill>
              <a:srgbClr val="2D3A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926080"/>
            <a:ext cx="3017520" cy="457200"/>
          </a:xfrm>
          <a:prstGeom prst="rect">
            <a:avLst/>
          </a:prstGeom>
          <a:noFill/>
        </p:spPr>
        <p:txBody>
          <a:bodyPr wrap="square">
            <a:spAutoFit/>
          </a:bodyPr>
          <a:lstStyle/>
          <a:p>
            <a:pPr algn="ctr">
              <a:defRPr sz="1100" b="0">
                <a:solidFill>
                  <a:srgbClr val="94A3B8"/>
                </a:solidFill>
                <a:latin typeface="Calibri"/>
              </a:defRPr>
            </a:pPr>
            <a:r>
              <a:t>[Screenshot Placeholder]</a:t>
            </a:r>
          </a:p>
        </p:txBody>
      </p:sp>
      <p:sp>
        <p:nvSpPr>
          <p:cNvPr id="16" name="Rounded Rectangle 15"/>
          <p:cNvSpPr/>
          <p:nvPr/>
        </p:nvSpPr>
        <p:spPr>
          <a:xfrm>
            <a:off x="8046720" y="1645920"/>
            <a:ext cx="3291840" cy="201168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80" y="1828800"/>
            <a:ext cx="457200" cy="4572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3</a:t>
            </a:r>
          </a:p>
        </p:txBody>
      </p:sp>
      <p:sp>
        <p:nvSpPr>
          <p:cNvPr id="18" name="TextBox 17"/>
          <p:cNvSpPr txBox="1"/>
          <p:nvPr/>
        </p:nvSpPr>
        <p:spPr>
          <a:xfrm>
            <a:off x="8778240" y="1828800"/>
            <a:ext cx="2377440" cy="365760"/>
          </a:xfrm>
          <a:prstGeom prst="rect">
            <a:avLst/>
          </a:prstGeom>
          <a:noFill/>
        </p:spPr>
        <p:txBody>
          <a:bodyPr wrap="square">
            <a:spAutoFit/>
          </a:bodyPr>
          <a:lstStyle/>
          <a:p>
            <a:pPr algn="l">
              <a:defRPr sz="2000" b="1">
                <a:solidFill>
                  <a:srgbClr val="FFFFFF"/>
                </a:solidFill>
                <a:latin typeface="Calibri"/>
              </a:defRPr>
            </a:pPr>
            <a:r>
              <a:t>Process with AI</a:t>
            </a:r>
          </a:p>
        </p:txBody>
      </p:sp>
      <p:sp>
        <p:nvSpPr>
          <p:cNvPr id="19" name="TextBox 18"/>
          <p:cNvSpPr txBox="1"/>
          <p:nvPr/>
        </p:nvSpPr>
        <p:spPr>
          <a:xfrm>
            <a:off x="8778240" y="2286000"/>
            <a:ext cx="2377440" cy="1097280"/>
          </a:xfrm>
          <a:prstGeom prst="rect">
            <a:avLst/>
          </a:prstGeom>
          <a:noFill/>
        </p:spPr>
        <p:txBody>
          <a:bodyPr wrap="square">
            <a:spAutoFit/>
          </a:bodyPr>
          <a:lstStyle/>
          <a:p>
            <a:pPr algn="l">
              <a:defRPr sz="1400" b="0">
                <a:solidFill>
                  <a:srgbClr val="CBD5E1"/>
                </a:solidFill>
                <a:latin typeface="Calibri"/>
              </a:defRPr>
            </a:pPr>
            <a:r>
              <a:t>Local Ollama extracts</a:t>
            </a:r>
            <a:br/>
            <a:r>
              <a:t>structured intelligence</a:t>
            </a:r>
          </a:p>
        </p:txBody>
      </p:sp>
      <p:sp>
        <p:nvSpPr>
          <p:cNvPr id="20" name="Rounded Rectangle 19"/>
          <p:cNvSpPr/>
          <p:nvPr/>
        </p:nvSpPr>
        <p:spPr>
          <a:xfrm>
            <a:off x="8183880" y="2834640"/>
            <a:ext cx="3017520" cy="640080"/>
          </a:xfrm>
          <a:prstGeom prst="roundRect">
            <a:avLst>
              <a:gd name="adj" fmla="val 5000"/>
            </a:avLst>
          </a:prstGeom>
          <a:solidFill>
            <a:srgbClr val="1A1F30"/>
          </a:solidFill>
          <a:ln w="12700">
            <a:solidFill>
              <a:srgbClr val="2D3A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2926080"/>
            <a:ext cx="3017520" cy="457200"/>
          </a:xfrm>
          <a:prstGeom prst="rect">
            <a:avLst/>
          </a:prstGeom>
          <a:noFill/>
        </p:spPr>
        <p:txBody>
          <a:bodyPr wrap="square">
            <a:spAutoFit/>
          </a:bodyPr>
          <a:lstStyle/>
          <a:p>
            <a:pPr algn="ctr">
              <a:defRPr sz="1100" b="0">
                <a:solidFill>
                  <a:srgbClr val="94A3B8"/>
                </a:solidFill>
                <a:latin typeface="Calibri"/>
              </a:defRPr>
            </a:pPr>
            <a:r>
              <a:t>[Screenshot Placeholder]</a:t>
            </a:r>
          </a:p>
        </p:txBody>
      </p:sp>
      <p:sp>
        <p:nvSpPr>
          <p:cNvPr id="22" name="Rounded Rectangle 21"/>
          <p:cNvSpPr/>
          <p:nvPr/>
        </p:nvSpPr>
        <p:spPr>
          <a:xfrm>
            <a:off x="731520" y="4023360"/>
            <a:ext cx="3291840" cy="201168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68680" y="420624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4</a:t>
            </a:r>
          </a:p>
        </p:txBody>
      </p:sp>
      <p:sp>
        <p:nvSpPr>
          <p:cNvPr id="24" name="TextBox 23"/>
          <p:cNvSpPr txBox="1"/>
          <p:nvPr/>
        </p:nvSpPr>
        <p:spPr>
          <a:xfrm>
            <a:off x="1463040" y="4206240"/>
            <a:ext cx="2377440" cy="365760"/>
          </a:xfrm>
          <a:prstGeom prst="rect">
            <a:avLst/>
          </a:prstGeom>
          <a:noFill/>
        </p:spPr>
        <p:txBody>
          <a:bodyPr wrap="square">
            <a:spAutoFit/>
          </a:bodyPr>
          <a:lstStyle/>
          <a:p>
            <a:pPr algn="l">
              <a:defRPr sz="2000" b="1">
                <a:solidFill>
                  <a:srgbClr val="FFFFFF"/>
                </a:solidFill>
                <a:latin typeface="Calibri"/>
              </a:defRPr>
            </a:pPr>
            <a:r>
              <a:t>Review Results</a:t>
            </a:r>
          </a:p>
        </p:txBody>
      </p:sp>
      <p:sp>
        <p:nvSpPr>
          <p:cNvPr id="25" name="TextBox 24"/>
          <p:cNvSpPr txBox="1"/>
          <p:nvPr/>
        </p:nvSpPr>
        <p:spPr>
          <a:xfrm>
            <a:off x="1463040" y="4663440"/>
            <a:ext cx="2377440" cy="1097280"/>
          </a:xfrm>
          <a:prstGeom prst="rect">
            <a:avLst/>
          </a:prstGeom>
          <a:noFill/>
        </p:spPr>
        <p:txBody>
          <a:bodyPr wrap="square">
            <a:spAutoFit/>
          </a:bodyPr>
          <a:lstStyle/>
          <a:p>
            <a:pPr algn="l">
              <a:defRPr sz="1400" b="0">
                <a:solidFill>
                  <a:srgbClr val="CBD5E1"/>
                </a:solidFill>
                <a:latin typeface="Calibri"/>
              </a:defRPr>
            </a:pPr>
            <a:r>
              <a:t>Inspect decisions, tasks,</a:t>
            </a:r>
            <a:br/>
            <a:r>
              <a:t>risks, dependencies</a:t>
            </a:r>
          </a:p>
        </p:txBody>
      </p:sp>
      <p:sp>
        <p:nvSpPr>
          <p:cNvPr id="26" name="Rounded Rectangle 25"/>
          <p:cNvSpPr/>
          <p:nvPr/>
        </p:nvSpPr>
        <p:spPr>
          <a:xfrm>
            <a:off x="868680" y="5212080"/>
            <a:ext cx="3017520" cy="640080"/>
          </a:xfrm>
          <a:prstGeom prst="roundRect">
            <a:avLst>
              <a:gd name="adj" fmla="val 5000"/>
            </a:avLst>
          </a:prstGeom>
          <a:solidFill>
            <a:srgbClr val="1A1F30"/>
          </a:solidFill>
          <a:ln w="12700">
            <a:solidFill>
              <a:srgbClr val="2D3A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303520"/>
            <a:ext cx="3017520" cy="457200"/>
          </a:xfrm>
          <a:prstGeom prst="rect">
            <a:avLst/>
          </a:prstGeom>
          <a:noFill/>
        </p:spPr>
        <p:txBody>
          <a:bodyPr wrap="square">
            <a:spAutoFit/>
          </a:bodyPr>
          <a:lstStyle/>
          <a:p>
            <a:pPr algn="ctr">
              <a:defRPr sz="1100" b="0">
                <a:solidFill>
                  <a:srgbClr val="94A3B8"/>
                </a:solidFill>
                <a:latin typeface="Calibri"/>
              </a:defRPr>
            </a:pPr>
            <a:r>
              <a:t>[Screenshot Placeholder]</a:t>
            </a:r>
          </a:p>
        </p:txBody>
      </p:sp>
      <p:sp>
        <p:nvSpPr>
          <p:cNvPr id="28" name="Rounded Rectangle 27"/>
          <p:cNvSpPr/>
          <p:nvPr/>
        </p:nvSpPr>
        <p:spPr>
          <a:xfrm>
            <a:off x="4389120" y="4023360"/>
            <a:ext cx="3291840" cy="201168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526280" y="420624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5</a:t>
            </a:r>
          </a:p>
        </p:txBody>
      </p:sp>
      <p:sp>
        <p:nvSpPr>
          <p:cNvPr id="30" name="TextBox 29"/>
          <p:cNvSpPr txBox="1"/>
          <p:nvPr/>
        </p:nvSpPr>
        <p:spPr>
          <a:xfrm>
            <a:off x="5120640" y="4206240"/>
            <a:ext cx="2377440" cy="365760"/>
          </a:xfrm>
          <a:prstGeom prst="rect">
            <a:avLst/>
          </a:prstGeom>
          <a:noFill/>
        </p:spPr>
        <p:txBody>
          <a:bodyPr wrap="square">
            <a:spAutoFit/>
          </a:bodyPr>
          <a:lstStyle/>
          <a:p>
            <a:pPr algn="l">
              <a:defRPr sz="2000" b="1">
                <a:solidFill>
                  <a:srgbClr val="FFFFFF"/>
                </a:solidFill>
                <a:latin typeface="Calibri"/>
              </a:defRPr>
            </a:pPr>
            <a:r>
              <a:t>Track Workflow</a:t>
            </a:r>
          </a:p>
        </p:txBody>
      </p:sp>
      <p:sp>
        <p:nvSpPr>
          <p:cNvPr id="31" name="TextBox 30"/>
          <p:cNvSpPr txBox="1"/>
          <p:nvPr/>
        </p:nvSpPr>
        <p:spPr>
          <a:xfrm>
            <a:off x="5120640" y="4663440"/>
            <a:ext cx="2377440" cy="1097280"/>
          </a:xfrm>
          <a:prstGeom prst="rect">
            <a:avLst/>
          </a:prstGeom>
          <a:noFill/>
        </p:spPr>
        <p:txBody>
          <a:bodyPr wrap="square">
            <a:spAutoFit/>
          </a:bodyPr>
          <a:lstStyle/>
          <a:p>
            <a:pPr algn="l">
              <a:defRPr sz="1400" b="0">
                <a:solidFill>
                  <a:srgbClr val="CBD5E1"/>
                </a:solidFill>
                <a:latin typeface="Calibri"/>
              </a:defRPr>
            </a:pPr>
            <a:r>
              <a:t>Monitor processing stages</a:t>
            </a:r>
            <a:br/>
            <a:r>
              <a:t>and approval status</a:t>
            </a:r>
          </a:p>
        </p:txBody>
      </p:sp>
      <p:sp>
        <p:nvSpPr>
          <p:cNvPr id="32" name="Rounded Rectangle 31"/>
          <p:cNvSpPr/>
          <p:nvPr/>
        </p:nvSpPr>
        <p:spPr>
          <a:xfrm>
            <a:off x="4526280" y="5212080"/>
            <a:ext cx="3017520" cy="640080"/>
          </a:xfrm>
          <a:prstGeom prst="roundRect">
            <a:avLst>
              <a:gd name="adj" fmla="val 5000"/>
            </a:avLst>
          </a:prstGeom>
          <a:solidFill>
            <a:srgbClr val="1A1F30"/>
          </a:solidFill>
          <a:ln w="12700">
            <a:solidFill>
              <a:srgbClr val="2D3A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26280" y="5303520"/>
            <a:ext cx="3017520" cy="457200"/>
          </a:xfrm>
          <a:prstGeom prst="rect">
            <a:avLst/>
          </a:prstGeom>
          <a:noFill/>
        </p:spPr>
        <p:txBody>
          <a:bodyPr wrap="square">
            <a:spAutoFit/>
          </a:bodyPr>
          <a:lstStyle/>
          <a:p>
            <a:pPr algn="ctr">
              <a:defRPr sz="1100" b="0">
                <a:solidFill>
                  <a:srgbClr val="94A3B8"/>
                </a:solidFill>
                <a:latin typeface="Calibri"/>
              </a:defRPr>
            </a:pPr>
            <a:r>
              <a:t>[Screenshot Placeholder]</a:t>
            </a:r>
          </a:p>
        </p:txBody>
      </p:sp>
      <p:sp>
        <p:nvSpPr>
          <p:cNvPr id="34" name="Rounded Rectangle 33"/>
          <p:cNvSpPr/>
          <p:nvPr/>
        </p:nvSpPr>
        <p:spPr>
          <a:xfrm>
            <a:off x="8046720" y="4023360"/>
            <a:ext cx="3291840" cy="201168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183880" y="4206240"/>
            <a:ext cx="457200" cy="45720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6</a:t>
            </a:r>
          </a:p>
        </p:txBody>
      </p:sp>
      <p:sp>
        <p:nvSpPr>
          <p:cNvPr id="36" name="TextBox 35"/>
          <p:cNvSpPr txBox="1"/>
          <p:nvPr/>
        </p:nvSpPr>
        <p:spPr>
          <a:xfrm>
            <a:off x="8778240" y="4206240"/>
            <a:ext cx="2377440" cy="365760"/>
          </a:xfrm>
          <a:prstGeom prst="rect">
            <a:avLst/>
          </a:prstGeom>
          <a:noFill/>
        </p:spPr>
        <p:txBody>
          <a:bodyPr wrap="square">
            <a:spAutoFit/>
          </a:bodyPr>
          <a:lstStyle/>
          <a:p>
            <a:pPr algn="l">
              <a:defRPr sz="2000" b="1">
                <a:solidFill>
                  <a:srgbClr val="FFFFFF"/>
                </a:solidFill>
                <a:latin typeface="Calibri"/>
              </a:defRPr>
            </a:pPr>
            <a:r>
              <a:t>Explore Analytics</a:t>
            </a:r>
          </a:p>
        </p:txBody>
      </p:sp>
      <p:sp>
        <p:nvSpPr>
          <p:cNvPr id="37" name="TextBox 36"/>
          <p:cNvSpPr txBox="1"/>
          <p:nvPr/>
        </p:nvSpPr>
        <p:spPr>
          <a:xfrm>
            <a:off x="8778240" y="4663440"/>
            <a:ext cx="2377440" cy="1097280"/>
          </a:xfrm>
          <a:prstGeom prst="rect">
            <a:avLst/>
          </a:prstGeom>
          <a:noFill/>
        </p:spPr>
        <p:txBody>
          <a:bodyPr wrap="square">
            <a:spAutoFit/>
          </a:bodyPr>
          <a:lstStyle/>
          <a:p>
            <a:pPr algn="l">
              <a:defRPr sz="1400" b="0">
                <a:solidFill>
                  <a:srgbClr val="CBD5E1"/>
                </a:solidFill>
                <a:latin typeface="Calibri"/>
              </a:defRPr>
            </a:pPr>
            <a:r>
              <a:t>View metrics, history,</a:t>
            </a:r>
            <a:br/>
            <a:r>
              <a:t>and search knowledge</a:t>
            </a:r>
          </a:p>
        </p:txBody>
      </p:sp>
      <p:sp>
        <p:nvSpPr>
          <p:cNvPr id="38" name="Rounded Rectangle 37"/>
          <p:cNvSpPr/>
          <p:nvPr/>
        </p:nvSpPr>
        <p:spPr>
          <a:xfrm>
            <a:off x="8183880" y="5212080"/>
            <a:ext cx="3017520" cy="640080"/>
          </a:xfrm>
          <a:prstGeom prst="roundRect">
            <a:avLst>
              <a:gd name="adj" fmla="val 5000"/>
            </a:avLst>
          </a:prstGeom>
          <a:solidFill>
            <a:srgbClr val="1A1F30"/>
          </a:solidFill>
          <a:ln w="12700">
            <a:solidFill>
              <a:srgbClr val="2D3A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83880" y="5303520"/>
            <a:ext cx="3017520" cy="457200"/>
          </a:xfrm>
          <a:prstGeom prst="rect">
            <a:avLst/>
          </a:prstGeom>
          <a:noFill/>
        </p:spPr>
        <p:txBody>
          <a:bodyPr wrap="square">
            <a:spAutoFit/>
          </a:bodyPr>
          <a:lstStyle/>
          <a:p>
            <a:pPr algn="ctr">
              <a:defRPr sz="1100" b="0">
                <a:solidFill>
                  <a:srgbClr val="94A3B8"/>
                </a:solidFill>
                <a:latin typeface="Calibri"/>
              </a:defRPr>
            </a:pPr>
            <a:r>
              <a:t>[Screenshot Placeholder]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What Cortex Extracts</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554480"/>
            <a:ext cx="265176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265176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91640"/>
            <a:ext cx="2377440" cy="320040"/>
          </a:xfrm>
          <a:prstGeom prst="rect">
            <a:avLst/>
          </a:prstGeom>
          <a:noFill/>
        </p:spPr>
        <p:txBody>
          <a:bodyPr wrap="square">
            <a:spAutoFit/>
          </a:bodyPr>
          <a:lstStyle/>
          <a:p>
            <a:pPr algn="l">
              <a:defRPr sz="1600" b="1">
                <a:solidFill>
                  <a:srgbClr val="3B82F6"/>
                </a:solidFill>
                <a:latin typeface="Calibri"/>
              </a:defRPr>
            </a:pPr>
            <a:r>
              <a:t>Summary</a:t>
            </a:r>
          </a:p>
        </p:txBody>
      </p:sp>
      <p:sp>
        <p:nvSpPr>
          <p:cNvPr id="7" name="TextBox 6"/>
          <p:cNvSpPr txBox="1"/>
          <p:nvPr/>
        </p:nvSpPr>
        <p:spPr>
          <a:xfrm>
            <a:off x="594360" y="2057400"/>
            <a:ext cx="2377440" cy="731520"/>
          </a:xfrm>
          <a:prstGeom prst="rect">
            <a:avLst/>
          </a:prstGeom>
          <a:noFill/>
        </p:spPr>
        <p:txBody>
          <a:bodyPr wrap="square">
            <a:spAutoFit/>
          </a:bodyPr>
          <a:lstStyle/>
          <a:p>
            <a:pPr algn="l">
              <a:defRPr sz="1200" b="0">
                <a:solidFill>
                  <a:srgbClr val="CBD5E1"/>
                </a:solidFill>
                <a:latin typeface="Calibri"/>
              </a:defRPr>
            </a:pPr>
            <a:r>
              <a:t>Concise meeting overview</a:t>
            </a:r>
            <a:br/>
            <a:r>
              <a:t>with confidence score</a:t>
            </a:r>
          </a:p>
        </p:txBody>
      </p:sp>
      <p:sp>
        <p:nvSpPr>
          <p:cNvPr id="8" name="Rounded Rectangle 7"/>
          <p:cNvSpPr/>
          <p:nvPr/>
        </p:nvSpPr>
        <p:spPr>
          <a:xfrm>
            <a:off x="3291840" y="1554480"/>
            <a:ext cx="265176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91840" y="1554480"/>
            <a:ext cx="265176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1691640"/>
            <a:ext cx="2377440" cy="320040"/>
          </a:xfrm>
          <a:prstGeom prst="rect">
            <a:avLst/>
          </a:prstGeom>
          <a:noFill/>
        </p:spPr>
        <p:txBody>
          <a:bodyPr wrap="square">
            <a:spAutoFit/>
          </a:bodyPr>
          <a:lstStyle/>
          <a:p>
            <a:pPr algn="l">
              <a:defRPr sz="1600" b="1">
                <a:solidFill>
                  <a:srgbClr val="7C3AED"/>
                </a:solidFill>
                <a:latin typeface="Calibri"/>
              </a:defRPr>
            </a:pPr>
            <a:r>
              <a:t>Participants</a:t>
            </a:r>
          </a:p>
        </p:txBody>
      </p:sp>
      <p:sp>
        <p:nvSpPr>
          <p:cNvPr id="11" name="TextBox 10"/>
          <p:cNvSpPr txBox="1"/>
          <p:nvPr/>
        </p:nvSpPr>
        <p:spPr>
          <a:xfrm>
            <a:off x="3429000" y="2057400"/>
            <a:ext cx="2377440" cy="731520"/>
          </a:xfrm>
          <a:prstGeom prst="rect">
            <a:avLst/>
          </a:prstGeom>
          <a:noFill/>
        </p:spPr>
        <p:txBody>
          <a:bodyPr wrap="square">
            <a:spAutoFit/>
          </a:bodyPr>
          <a:lstStyle/>
          <a:p>
            <a:pPr algn="l">
              <a:defRPr sz="1200" b="0">
                <a:solidFill>
                  <a:srgbClr val="CBD5E1"/>
                </a:solidFill>
                <a:latin typeface="Calibri"/>
              </a:defRPr>
            </a:pPr>
            <a:r>
              <a:t>Speaker names and roles</a:t>
            </a:r>
            <a:br/>
            <a:r>
              <a:t>extracted from transcript</a:t>
            </a:r>
          </a:p>
        </p:txBody>
      </p:sp>
      <p:sp>
        <p:nvSpPr>
          <p:cNvPr id="12" name="Rounded Rectangle 11"/>
          <p:cNvSpPr/>
          <p:nvPr/>
        </p:nvSpPr>
        <p:spPr>
          <a:xfrm>
            <a:off x="6126480" y="1554480"/>
            <a:ext cx="265176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554480"/>
            <a:ext cx="265176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691640"/>
            <a:ext cx="2377440" cy="320040"/>
          </a:xfrm>
          <a:prstGeom prst="rect">
            <a:avLst/>
          </a:prstGeom>
          <a:noFill/>
        </p:spPr>
        <p:txBody>
          <a:bodyPr wrap="square">
            <a:spAutoFit/>
          </a:bodyPr>
          <a:lstStyle/>
          <a:p>
            <a:pPr algn="l">
              <a:defRPr sz="1600" b="1">
                <a:solidFill>
                  <a:srgbClr val="10B981"/>
                </a:solidFill>
                <a:latin typeface="Calibri"/>
              </a:defRPr>
            </a:pPr>
            <a:r>
              <a:t>Action Items</a:t>
            </a:r>
          </a:p>
        </p:txBody>
      </p:sp>
      <p:sp>
        <p:nvSpPr>
          <p:cNvPr id="15" name="TextBox 14"/>
          <p:cNvSpPr txBox="1"/>
          <p:nvPr/>
        </p:nvSpPr>
        <p:spPr>
          <a:xfrm>
            <a:off x="6263640" y="2057400"/>
            <a:ext cx="2377440" cy="731520"/>
          </a:xfrm>
          <a:prstGeom prst="rect">
            <a:avLst/>
          </a:prstGeom>
          <a:noFill/>
        </p:spPr>
        <p:txBody>
          <a:bodyPr wrap="square">
            <a:spAutoFit/>
          </a:bodyPr>
          <a:lstStyle/>
          <a:p>
            <a:pPr algn="l">
              <a:defRPr sz="1200" b="0">
                <a:solidFill>
                  <a:srgbClr val="CBD5E1"/>
                </a:solidFill>
                <a:latin typeface="Calibri"/>
              </a:defRPr>
            </a:pPr>
            <a:r>
              <a:t>Tasks with owners, deadlines,</a:t>
            </a:r>
            <a:br/>
            <a:r>
              <a:t>priority and evidence</a:t>
            </a:r>
          </a:p>
        </p:txBody>
      </p:sp>
      <p:sp>
        <p:nvSpPr>
          <p:cNvPr id="16" name="Rounded Rectangle 15"/>
          <p:cNvSpPr/>
          <p:nvPr/>
        </p:nvSpPr>
        <p:spPr>
          <a:xfrm>
            <a:off x="8961120" y="1554480"/>
            <a:ext cx="265176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61120" y="1554480"/>
            <a:ext cx="265176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1691640"/>
            <a:ext cx="2377440" cy="320040"/>
          </a:xfrm>
          <a:prstGeom prst="rect">
            <a:avLst/>
          </a:prstGeom>
          <a:noFill/>
        </p:spPr>
        <p:txBody>
          <a:bodyPr wrap="square">
            <a:spAutoFit/>
          </a:bodyPr>
          <a:lstStyle/>
          <a:p>
            <a:pPr algn="l">
              <a:defRPr sz="1600" b="1">
                <a:solidFill>
                  <a:srgbClr val="8B5CF6"/>
                </a:solidFill>
                <a:latin typeface="Calibri"/>
              </a:defRPr>
            </a:pPr>
            <a:r>
              <a:t>Decisions</a:t>
            </a:r>
          </a:p>
        </p:txBody>
      </p:sp>
      <p:sp>
        <p:nvSpPr>
          <p:cNvPr id="19" name="TextBox 18"/>
          <p:cNvSpPr txBox="1"/>
          <p:nvPr/>
        </p:nvSpPr>
        <p:spPr>
          <a:xfrm>
            <a:off x="9098280" y="2057400"/>
            <a:ext cx="2377440" cy="731520"/>
          </a:xfrm>
          <a:prstGeom prst="rect">
            <a:avLst/>
          </a:prstGeom>
          <a:noFill/>
        </p:spPr>
        <p:txBody>
          <a:bodyPr wrap="square">
            <a:spAutoFit/>
          </a:bodyPr>
          <a:lstStyle/>
          <a:p>
            <a:pPr algn="l">
              <a:defRPr sz="1200" b="0">
                <a:solidFill>
                  <a:srgbClr val="CBD5E1"/>
                </a:solidFill>
                <a:latin typeface="Calibri"/>
              </a:defRPr>
            </a:pPr>
            <a:r>
              <a:t>What was agreed, by whom,</a:t>
            </a:r>
            <a:br/>
            <a:r>
              <a:t>with supporting evidence</a:t>
            </a:r>
          </a:p>
        </p:txBody>
      </p:sp>
      <p:sp>
        <p:nvSpPr>
          <p:cNvPr id="20" name="Rounded Rectangle 19"/>
          <p:cNvSpPr/>
          <p:nvPr/>
        </p:nvSpPr>
        <p:spPr>
          <a:xfrm>
            <a:off x="457200" y="3108960"/>
            <a:ext cx="265176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108960"/>
            <a:ext cx="2651760" cy="381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246120"/>
            <a:ext cx="2377440" cy="320040"/>
          </a:xfrm>
          <a:prstGeom prst="rect">
            <a:avLst/>
          </a:prstGeom>
          <a:noFill/>
        </p:spPr>
        <p:txBody>
          <a:bodyPr wrap="square">
            <a:spAutoFit/>
          </a:bodyPr>
          <a:lstStyle/>
          <a:p>
            <a:pPr algn="l">
              <a:defRPr sz="1600" b="1">
                <a:solidFill>
                  <a:srgbClr val="EF4444"/>
                </a:solidFill>
                <a:latin typeface="Calibri"/>
              </a:defRPr>
            </a:pPr>
            <a:r>
              <a:t>Risks</a:t>
            </a:r>
          </a:p>
        </p:txBody>
      </p:sp>
      <p:sp>
        <p:nvSpPr>
          <p:cNvPr id="23" name="TextBox 22"/>
          <p:cNvSpPr txBox="1"/>
          <p:nvPr/>
        </p:nvSpPr>
        <p:spPr>
          <a:xfrm>
            <a:off x="594360" y="3611880"/>
            <a:ext cx="2377440" cy="731520"/>
          </a:xfrm>
          <a:prstGeom prst="rect">
            <a:avLst/>
          </a:prstGeom>
          <a:noFill/>
        </p:spPr>
        <p:txBody>
          <a:bodyPr wrap="square">
            <a:spAutoFit/>
          </a:bodyPr>
          <a:lstStyle/>
          <a:p>
            <a:pPr algn="l">
              <a:defRPr sz="1200" b="0">
                <a:solidFill>
                  <a:srgbClr val="CBD5E1"/>
                </a:solidFill>
                <a:latin typeface="Calibri"/>
              </a:defRPr>
            </a:pPr>
            <a:r>
              <a:t>Severity, likelihood, owner,</a:t>
            </a:r>
            <a:br/>
            <a:r>
              <a:t>and mitigation notes</a:t>
            </a:r>
          </a:p>
        </p:txBody>
      </p:sp>
      <p:sp>
        <p:nvSpPr>
          <p:cNvPr id="24" name="Rounded Rectangle 23"/>
          <p:cNvSpPr/>
          <p:nvPr/>
        </p:nvSpPr>
        <p:spPr>
          <a:xfrm>
            <a:off x="3291840" y="3108960"/>
            <a:ext cx="265176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91840" y="3108960"/>
            <a:ext cx="265176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29000" y="3246120"/>
            <a:ext cx="2377440" cy="320040"/>
          </a:xfrm>
          <a:prstGeom prst="rect">
            <a:avLst/>
          </a:prstGeom>
          <a:noFill/>
        </p:spPr>
        <p:txBody>
          <a:bodyPr wrap="square">
            <a:spAutoFit/>
          </a:bodyPr>
          <a:lstStyle/>
          <a:p>
            <a:pPr algn="l">
              <a:defRPr sz="1600" b="1">
                <a:solidFill>
                  <a:srgbClr val="F59E0B"/>
                </a:solidFill>
                <a:latin typeface="Calibri"/>
              </a:defRPr>
            </a:pPr>
            <a:r>
              <a:t>Dependencies</a:t>
            </a:r>
          </a:p>
        </p:txBody>
      </p:sp>
      <p:sp>
        <p:nvSpPr>
          <p:cNvPr id="27" name="TextBox 26"/>
          <p:cNvSpPr txBox="1"/>
          <p:nvPr/>
        </p:nvSpPr>
        <p:spPr>
          <a:xfrm>
            <a:off x="3429000" y="3611880"/>
            <a:ext cx="2377440" cy="731520"/>
          </a:xfrm>
          <a:prstGeom prst="rect">
            <a:avLst/>
          </a:prstGeom>
          <a:noFill/>
        </p:spPr>
        <p:txBody>
          <a:bodyPr wrap="square">
            <a:spAutoFit/>
          </a:bodyPr>
          <a:lstStyle/>
          <a:p>
            <a:pPr algn="l">
              <a:defRPr sz="1200" b="0">
                <a:solidFill>
                  <a:srgbClr val="CBD5E1"/>
                </a:solidFill>
                <a:latin typeface="Calibri"/>
              </a:defRPr>
            </a:pPr>
            <a:r>
              <a:t>What blocks what — from_item</a:t>
            </a:r>
            <a:br/>
            <a:r>
              <a:t>to_item with type</a:t>
            </a:r>
          </a:p>
        </p:txBody>
      </p:sp>
      <p:sp>
        <p:nvSpPr>
          <p:cNvPr id="28" name="Rounded Rectangle 27"/>
          <p:cNvSpPr/>
          <p:nvPr/>
        </p:nvSpPr>
        <p:spPr>
          <a:xfrm>
            <a:off x="6126480" y="3108960"/>
            <a:ext cx="265176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80" y="3108960"/>
            <a:ext cx="265176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3246120"/>
            <a:ext cx="2377440" cy="320040"/>
          </a:xfrm>
          <a:prstGeom prst="rect">
            <a:avLst/>
          </a:prstGeom>
          <a:noFill/>
        </p:spPr>
        <p:txBody>
          <a:bodyPr wrap="square">
            <a:spAutoFit/>
          </a:bodyPr>
          <a:lstStyle/>
          <a:p>
            <a:pPr algn="l">
              <a:defRPr sz="1600" b="1">
                <a:solidFill>
                  <a:srgbClr val="06B6D4"/>
                </a:solidFill>
                <a:latin typeface="Calibri"/>
              </a:defRPr>
            </a:pPr>
            <a:r>
              <a:t>Clarifications</a:t>
            </a:r>
          </a:p>
        </p:txBody>
      </p:sp>
      <p:sp>
        <p:nvSpPr>
          <p:cNvPr id="31" name="TextBox 30"/>
          <p:cNvSpPr txBox="1"/>
          <p:nvPr/>
        </p:nvSpPr>
        <p:spPr>
          <a:xfrm>
            <a:off x="6263640" y="3611880"/>
            <a:ext cx="2377440" cy="731520"/>
          </a:xfrm>
          <a:prstGeom prst="rect">
            <a:avLst/>
          </a:prstGeom>
          <a:noFill/>
        </p:spPr>
        <p:txBody>
          <a:bodyPr wrap="square">
            <a:spAutoFit/>
          </a:bodyPr>
          <a:lstStyle/>
          <a:p>
            <a:pPr algn="l">
              <a:defRPr sz="1200" b="0">
                <a:solidFill>
                  <a:srgbClr val="CBD5E1"/>
                </a:solidFill>
                <a:latin typeface="Calibri"/>
              </a:defRPr>
            </a:pPr>
            <a:r>
              <a:t>Unanswered questions and</a:t>
            </a:r>
            <a:br/>
            <a:r>
              <a:t>ambiguities needing follow-up</a:t>
            </a:r>
          </a:p>
        </p:txBody>
      </p:sp>
      <p:sp>
        <p:nvSpPr>
          <p:cNvPr id="32" name="Rounded Rectangle 31"/>
          <p:cNvSpPr/>
          <p:nvPr/>
        </p:nvSpPr>
        <p:spPr>
          <a:xfrm>
            <a:off x="8961120" y="3108960"/>
            <a:ext cx="265176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61120" y="3108960"/>
            <a:ext cx="2651760" cy="381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98280" y="3246120"/>
            <a:ext cx="2377440" cy="320040"/>
          </a:xfrm>
          <a:prstGeom prst="rect">
            <a:avLst/>
          </a:prstGeom>
          <a:noFill/>
        </p:spPr>
        <p:txBody>
          <a:bodyPr wrap="square">
            <a:spAutoFit/>
          </a:bodyPr>
          <a:lstStyle/>
          <a:p>
            <a:pPr algn="l">
              <a:defRPr sz="1600" b="1">
                <a:solidFill>
                  <a:srgbClr val="EC4899"/>
                </a:solidFill>
                <a:latin typeface="Calibri"/>
              </a:defRPr>
            </a:pPr>
            <a:r>
              <a:t>Confidence Scores</a:t>
            </a:r>
          </a:p>
        </p:txBody>
      </p:sp>
      <p:sp>
        <p:nvSpPr>
          <p:cNvPr id="35" name="TextBox 34"/>
          <p:cNvSpPr txBox="1"/>
          <p:nvPr/>
        </p:nvSpPr>
        <p:spPr>
          <a:xfrm>
            <a:off x="9098280" y="3611880"/>
            <a:ext cx="2377440" cy="731520"/>
          </a:xfrm>
          <a:prstGeom prst="rect">
            <a:avLst/>
          </a:prstGeom>
          <a:noFill/>
        </p:spPr>
        <p:txBody>
          <a:bodyPr wrap="square">
            <a:spAutoFit/>
          </a:bodyPr>
          <a:lstStyle/>
          <a:p>
            <a:pPr algn="l">
              <a:defRPr sz="1200" b="0">
                <a:solidFill>
                  <a:srgbClr val="CBD5E1"/>
                </a:solidFill>
                <a:latin typeface="Calibri"/>
              </a:defRPr>
            </a:pPr>
            <a:r>
              <a:t>Per-item and overall extraction</a:t>
            </a:r>
            <a:br/>
            <a:r>
              <a:t>confidence (0.0 – 1.0)</a:t>
            </a:r>
          </a:p>
        </p:txBody>
      </p:sp>
      <p:sp>
        <p:nvSpPr>
          <p:cNvPr id="36" name="Rounded Rectangle 35"/>
          <p:cNvSpPr/>
          <p:nvPr/>
        </p:nvSpPr>
        <p:spPr>
          <a:xfrm>
            <a:off x="457200" y="4754880"/>
            <a:ext cx="11247120" cy="1645920"/>
          </a:xfrm>
          <a:prstGeom prst="roundRect">
            <a:avLst>
              <a:gd name="adj" fmla="val 5000"/>
            </a:avLst>
          </a:prstGeom>
          <a:solidFill>
            <a:srgbClr val="0F131E"/>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846320"/>
            <a:ext cx="10972800" cy="320040"/>
          </a:xfrm>
          <a:prstGeom prst="rect">
            <a:avLst/>
          </a:prstGeom>
          <a:noFill/>
        </p:spPr>
        <p:txBody>
          <a:bodyPr wrap="square">
            <a:spAutoFit/>
          </a:bodyPr>
          <a:lstStyle/>
          <a:p>
            <a:pPr algn="l">
              <a:defRPr sz="1400" b="1">
                <a:solidFill>
                  <a:srgbClr val="8B5CF6"/>
                </a:solidFill>
                <a:latin typeface="Calibri"/>
              </a:defRPr>
            </a:pPr>
            <a:r>
              <a:t>Example: Project Atlas Launch Meeting</a:t>
            </a:r>
          </a:p>
        </p:txBody>
      </p:sp>
      <p:sp>
        <p:nvSpPr>
          <p:cNvPr id="38" name="TextBox 37"/>
          <p:cNvSpPr txBox="1"/>
          <p:nvPr/>
        </p:nvSpPr>
        <p:spPr>
          <a:xfrm>
            <a:off x="640080" y="5166360"/>
            <a:ext cx="10972800" cy="256032"/>
          </a:xfrm>
          <a:prstGeom prst="rect">
            <a:avLst/>
          </a:prstGeom>
          <a:noFill/>
        </p:spPr>
        <p:txBody>
          <a:bodyPr wrap="square">
            <a:spAutoFit/>
          </a:bodyPr>
          <a:lstStyle/>
          <a:p>
            <a:pPr algn="l">
              <a:defRPr sz="1200" b="0">
                <a:solidFill>
                  <a:srgbClr val="CBD5E1"/>
                </a:solidFill>
                <a:latin typeface="Calibri"/>
              </a:defRPr>
            </a:pPr>
            <a:r>
              <a:t>Action Item: "Ravi completes load testing by August 9"   |   Assignee: Ravi   |   Confidence: 0.85</a:t>
            </a:r>
          </a:p>
        </p:txBody>
      </p:sp>
      <p:sp>
        <p:nvSpPr>
          <p:cNvPr id="39" name="TextBox 38"/>
          <p:cNvSpPr txBox="1"/>
          <p:nvPr/>
        </p:nvSpPr>
        <p:spPr>
          <a:xfrm>
            <a:off x="640080" y="5440680"/>
            <a:ext cx="10972800" cy="256032"/>
          </a:xfrm>
          <a:prstGeom prst="rect">
            <a:avLst/>
          </a:prstGeom>
          <a:noFill/>
        </p:spPr>
        <p:txBody>
          <a:bodyPr wrap="square">
            <a:spAutoFit/>
          </a:bodyPr>
          <a:lstStyle/>
          <a:p>
            <a:pPr algn="l">
              <a:defRPr sz="1200" b="0">
                <a:solidFill>
                  <a:srgbClr val="CBD5E1"/>
                </a:solidFill>
                <a:latin typeface="Calibri"/>
              </a:defRPr>
            </a:pPr>
            <a:r>
              <a:t>Decision: "Launch conditional on security and performance approval"   |   Decided by: Asha</a:t>
            </a:r>
          </a:p>
        </p:txBody>
      </p:sp>
      <p:sp>
        <p:nvSpPr>
          <p:cNvPr id="40" name="TextBox 39"/>
          <p:cNvSpPr txBox="1"/>
          <p:nvPr/>
        </p:nvSpPr>
        <p:spPr>
          <a:xfrm>
            <a:off x="640080" y="5715000"/>
            <a:ext cx="10972800" cy="256032"/>
          </a:xfrm>
          <a:prstGeom prst="rect">
            <a:avLst/>
          </a:prstGeom>
          <a:noFill/>
        </p:spPr>
        <p:txBody>
          <a:bodyPr wrap="square">
            <a:spAutoFit/>
          </a:bodyPr>
          <a:lstStyle/>
          <a:p>
            <a:pPr algn="l">
              <a:defRPr sz="1200" b="0">
                <a:solidFill>
                  <a:srgbClr val="CBD5E1"/>
                </a:solidFill>
                <a:latin typeface="Calibri"/>
              </a:defRPr>
            </a:pPr>
            <a:r>
              <a:t>Risk: "High-priority authentication vulnerability"   |   Severity: High   |   Owner: Meera</a:t>
            </a:r>
          </a:p>
        </p:txBody>
      </p:sp>
      <p:sp>
        <p:nvSpPr>
          <p:cNvPr id="41" name="TextBox 40"/>
          <p:cNvSpPr txBox="1"/>
          <p:nvPr/>
        </p:nvSpPr>
        <p:spPr>
          <a:xfrm>
            <a:off x="640080" y="5989320"/>
            <a:ext cx="10972800" cy="256032"/>
          </a:xfrm>
          <a:prstGeom prst="rect">
            <a:avLst/>
          </a:prstGeom>
          <a:noFill/>
        </p:spPr>
        <p:txBody>
          <a:bodyPr wrap="square">
            <a:spAutoFit/>
          </a:bodyPr>
          <a:lstStyle/>
          <a:p>
            <a:pPr algn="l">
              <a:defRPr sz="1200" b="0">
                <a:solidFill>
                  <a:srgbClr val="CBD5E1"/>
                </a:solidFill>
                <a:latin typeface="Calibri"/>
              </a:defRPr>
            </a:pPr>
            <a:r>
              <a:t>Dependency: "Production deployment blocked until load test and security audit approved"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Workflow Pipeline</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058400" cy="365760"/>
          </a:xfrm>
          <a:prstGeom prst="rect">
            <a:avLst/>
          </a:prstGeom>
          <a:noFill/>
        </p:spPr>
        <p:txBody>
          <a:bodyPr wrap="square">
            <a:spAutoFit/>
          </a:bodyPr>
          <a:lstStyle/>
          <a:p>
            <a:pPr algn="l">
              <a:defRPr sz="1600" b="0">
                <a:solidFill>
                  <a:srgbClr val="94A3B8"/>
                </a:solidFill>
                <a:latin typeface="Calibri"/>
              </a:defRPr>
            </a:pPr>
            <a:r>
              <a:t>Persistent WorkflowState tracks every processing stage with progress percentages</a:t>
            </a:r>
          </a:p>
        </p:txBody>
      </p:sp>
      <p:sp>
        <p:nvSpPr>
          <p:cNvPr id="5" name="Rounded Rectangle 4"/>
          <p:cNvSpPr/>
          <p:nvPr/>
        </p:nvSpPr>
        <p:spPr>
          <a:xfrm>
            <a:off x="457200" y="2011680"/>
            <a:ext cx="269748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3063240"/>
            <a:ext cx="2514600" cy="137160"/>
          </a:xfrm>
          <a:prstGeom prst="rect">
            <a:avLst/>
          </a:prstGeom>
          <a:solidFill>
            <a:srgbClr val="1A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3063240"/>
            <a:ext cx="125730" cy="1371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965960" cy="320040"/>
          </a:xfrm>
          <a:prstGeom prst="rect">
            <a:avLst/>
          </a:prstGeom>
          <a:noFill/>
        </p:spPr>
        <p:txBody>
          <a:bodyPr wrap="square">
            <a:spAutoFit/>
          </a:bodyPr>
          <a:lstStyle/>
          <a:p>
            <a:pPr algn="l">
              <a:defRPr sz="1300" b="1">
                <a:solidFill>
                  <a:srgbClr val="FFFFFF"/>
                </a:solidFill>
                <a:latin typeface="Calibri"/>
              </a:defRPr>
            </a:pPr>
            <a:r>
              <a:t>transcript_received</a:t>
            </a:r>
          </a:p>
        </p:txBody>
      </p:sp>
      <p:sp>
        <p:nvSpPr>
          <p:cNvPr id="9" name="TextBox 8"/>
          <p:cNvSpPr txBox="1"/>
          <p:nvPr/>
        </p:nvSpPr>
        <p:spPr>
          <a:xfrm>
            <a:off x="2514600" y="2103120"/>
            <a:ext cx="548640" cy="320040"/>
          </a:xfrm>
          <a:prstGeom prst="rect">
            <a:avLst/>
          </a:prstGeom>
          <a:noFill/>
        </p:spPr>
        <p:txBody>
          <a:bodyPr wrap="square">
            <a:spAutoFit/>
          </a:bodyPr>
          <a:lstStyle/>
          <a:p>
            <a:pPr algn="r">
              <a:defRPr sz="1400" b="1">
                <a:solidFill>
                  <a:srgbClr val="3B82F6"/>
                </a:solidFill>
                <a:latin typeface="Calibri"/>
              </a:defRPr>
            </a:pPr>
            <a:r>
              <a:t>5%</a:t>
            </a:r>
          </a:p>
        </p:txBody>
      </p:sp>
      <p:sp>
        <p:nvSpPr>
          <p:cNvPr id="10" name="TextBox 9"/>
          <p:cNvSpPr txBox="1"/>
          <p:nvPr/>
        </p:nvSpPr>
        <p:spPr>
          <a:xfrm>
            <a:off x="548640" y="2468880"/>
            <a:ext cx="2514600" cy="502920"/>
          </a:xfrm>
          <a:prstGeom prst="rect">
            <a:avLst/>
          </a:prstGeom>
          <a:noFill/>
        </p:spPr>
        <p:txBody>
          <a:bodyPr wrap="square">
            <a:spAutoFit/>
          </a:bodyPr>
          <a:lstStyle/>
          <a:p>
            <a:pPr algn="l">
              <a:defRPr sz="1100" b="0">
                <a:solidFill>
                  <a:srgbClr val="94A3B8"/>
                </a:solidFill>
                <a:latin typeface="Calibri"/>
              </a:defRPr>
            </a:pPr>
            <a:r>
              <a:t>Workflow created, attempt tracked</a:t>
            </a:r>
          </a:p>
        </p:txBody>
      </p:sp>
      <p:sp>
        <p:nvSpPr>
          <p:cNvPr id="11" name="Rounded Rectangle 10"/>
          <p:cNvSpPr/>
          <p:nvPr/>
        </p:nvSpPr>
        <p:spPr>
          <a:xfrm>
            <a:off x="3337560" y="2011680"/>
            <a:ext cx="269748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3063240"/>
            <a:ext cx="2514600" cy="137160"/>
          </a:xfrm>
          <a:prstGeom prst="rect">
            <a:avLst/>
          </a:prstGeom>
          <a:solidFill>
            <a:srgbClr val="1A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3063240"/>
            <a:ext cx="251460" cy="1371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2103120"/>
            <a:ext cx="1965960" cy="320040"/>
          </a:xfrm>
          <a:prstGeom prst="rect">
            <a:avLst/>
          </a:prstGeom>
          <a:noFill/>
        </p:spPr>
        <p:txBody>
          <a:bodyPr wrap="square">
            <a:spAutoFit/>
          </a:bodyPr>
          <a:lstStyle/>
          <a:p>
            <a:pPr algn="l">
              <a:defRPr sz="1300" b="1">
                <a:solidFill>
                  <a:srgbClr val="FFFFFF"/>
                </a:solidFill>
                <a:latin typeface="Calibri"/>
              </a:defRPr>
            </a:pPr>
            <a:r>
              <a:t>transcript_validation</a:t>
            </a:r>
          </a:p>
        </p:txBody>
      </p:sp>
      <p:sp>
        <p:nvSpPr>
          <p:cNvPr id="15" name="TextBox 14"/>
          <p:cNvSpPr txBox="1"/>
          <p:nvPr/>
        </p:nvSpPr>
        <p:spPr>
          <a:xfrm>
            <a:off x="5394960" y="2103120"/>
            <a:ext cx="548640" cy="320040"/>
          </a:xfrm>
          <a:prstGeom prst="rect">
            <a:avLst/>
          </a:prstGeom>
          <a:noFill/>
        </p:spPr>
        <p:txBody>
          <a:bodyPr wrap="square">
            <a:spAutoFit/>
          </a:bodyPr>
          <a:lstStyle/>
          <a:p>
            <a:pPr algn="r">
              <a:defRPr sz="1400" b="1">
                <a:solidFill>
                  <a:srgbClr val="3B82F6"/>
                </a:solidFill>
                <a:latin typeface="Calibri"/>
              </a:defRPr>
            </a:pPr>
            <a:r>
              <a:t>10%</a:t>
            </a:r>
          </a:p>
        </p:txBody>
      </p:sp>
      <p:sp>
        <p:nvSpPr>
          <p:cNvPr id="16" name="TextBox 15"/>
          <p:cNvSpPr txBox="1"/>
          <p:nvPr/>
        </p:nvSpPr>
        <p:spPr>
          <a:xfrm>
            <a:off x="3429000" y="2468880"/>
            <a:ext cx="2514600" cy="502920"/>
          </a:xfrm>
          <a:prstGeom prst="rect">
            <a:avLst/>
          </a:prstGeom>
          <a:noFill/>
        </p:spPr>
        <p:txBody>
          <a:bodyPr wrap="square">
            <a:spAutoFit/>
          </a:bodyPr>
          <a:lstStyle/>
          <a:p>
            <a:pPr algn="l">
              <a:defRPr sz="1100" b="0">
                <a:solidFill>
                  <a:srgbClr val="94A3B8"/>
                </a:solidFill>
                <a:latin typeface="Calibri"/>
              </a:defRPr>
            </a:pPr>
            <a:r>
              <a:t>Segments verified non-empty</a:t>
            </a:r>
          </a:p>
        </p:txBody>
      </p:sp>
      <p:sp>
        <p:nvSpPr>
          <p:cNvPr id="17" name="Rounded Rectangle 16"/>
          <p:cNvSpPr/>
          <p:nvPr/>
        </p:nvSpPr>
        <p:spPr>
          <a:xfrm>
            <a:off x="6217920" y="2011680"/>
            <a:ext cx="269748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3063240"/>
            <a:ext cx="2514600" cy="137160"/>
          </a:xfrm>
          <a:prstGeom prst="rect">
            <a:avLst/>
          </a:prstGeom>
          <a:solidFill>
            <a:srgbClr val="1A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3063240"/>
            <a:ext cx="50292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103120"/>
            <a:ext cx="1965960" cy="320040"/>
          </a:xfrm>
          <a:prstGeom prst="rect">
            <a:avLst/>
          </a:prstGeom>
          <a:noFill/>
        </p:spPr>
        <p:txBody>
          <a:bodyPr wrap="square">
            <a:spAutoFit/>
          </a:bodyPr>
          <a:lstStyle/>
          <a:p>
            <a:pPr algn="l">
              <a:defRPr sz="1300" b="1">
                <a:solidFill>
                  <a:srgbClr val="FFFFFF"/>
                </a:solidFill>
                <a:latin typeface="Calibri"/>
              </a:defRPr>
            </a:pPr>
            <a:r>
              <a:t>provider_health_check</a:t>
            </a:r>
          </a:p>
        </p:txBody>
      </p:sp>
      <p:sp>
        <p:nvSpPr>
          <p:cNvPr id="21" name="TextBox 20"/>
          <p:cNvSpPr txBox="1"/>
          <p:nvPr/>
        </p:nvSpPr>
        <p:spPr>
          <a:xfrm>
            <a:off x="8275320" y="2103120"/>
            <a:ext cx="548640" cy="320040"/>
          </a:xfrm>
          <a:prstGeom prst="rect">
            <a:avLst/>
          </a:prstGeom>
          <a:noFill/>
        </p:spPr>
        <p:txBody>
          <a:bodyPr wrap="square">
            <a:spAutoFit/>
          </a:bodyPr>
          <a:lstStyle/>
          <a:p>
            <a:pPr algn="r">
              <a:defRPr sz="1400" b="1">
                <a:solidFill>
                  <a:srgbClr val="06B6D4"/>
                </a:solidFill>
                <a:latin typeface="Calibri"/>
              </a:defRPr>
            </a:pPr>
            <a:r>
              <a:t>20%</a:t>
            </a:r>
          </a:p>
        </p:txBody>
      </p:sp>
      <p:sp>
        <p:nvSpPr>
          <p:cNvPr id="22" name="TextBox 21"/>
          <p:cNvSpPr txBox="1"/>
          <p:nvPr/>
        </p:nvSpPr>
        <p:spPr>
          <a:xfrm>
            <a:off x="6309360" y="2468880"/>
            <a:ext cx="2514600" cy="502920"/>
          </a:xfrm>
          <a:prstGeom prst="rect">
            <a:avLst/>
          </a:prstGeom>
          <a:noFill/>
        </p:spPr>
        <p:txBody>
          <a:bodyPr wrap="square">
            <a:spAutoFit/>
          </a:bodyPr>
          <a:lstStyle/>
          <a:p>
            <a:pPr algn="l">
              <a:defRPr sz="1100" b="0">
                <a:solidFill>
                  <a:srgbClr val="94A3B8"/>
                </a:solidFill>
                <a:latin typeface="Calibri"/>
              </a:defRPr>
            </a:pPr>
            <a:r>
              <a:t>Ollama reachability + model check</a:t>
            </a:r>
          </a:p>
        </p:txBody>
      </p:sp>
      <p:sp>
        <p:nvSpPr>
          <p:cNvPr id="23" name="Rounded Rectangle 22"/>
          <p:cNvSpPr/>
          <p:nvPr/>
        </p:nvSpPr>
        <p:spPr>
          <a:xfrm>
            <a:off x="9098280" y="2011680"/>
            <a:ext cx="269748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89720" y="3063240"/>
            <a:ext cx="2514600" cy="137160"/>
          </a:xfrm>
          <a:prstGeom prst="rect">
            <a:avLst/>
          </a:prstGeom>
          <a:solidFill>
            <a:srgbClr val="1A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89720" y="3063240"/>
            <a:ext cx="75438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9720" y="2103120"/>
            <a:ext cx="1965960" cy="320040"/>
          </a:xfrm>
          <a:prstGeom prst="rect">
            <a:avLst/>
          </a:prstGeom>
          <a:noFill/>
        </p:spPr>
        <p:txBody>
          <a:bodyPr wrap="square">
            <a:spAutoFit/>
          </a:bodyPr>
          <a:lstStyle/>
          <a:p>
            <a:pPr algn="l">
              <a:defRPr sz="1300" b="1">
                <a:solidFill>
                  <a:srgbClr val="FFFFFF"/>
                </a:solidFill>
                <a:latin typeface="Calibri"/>
              </a:defRPr>
            </a:pPr>
            <a:r>
              <a:t>intelligence_extraction</a:t>
            </a:r>
          </a:p>
        </p:txBody>
      </p:sp>
      <p:sp>
        <p:nvSpPr>
          <p:cNvPr id="27" name="TextBox 26"/>
          <p:cNvSpPr txBox="1"/>
          <p:nvPr/>
        </p:nvSpPr>
        <p:spPr>
          <a:xfrm>
            <a:off x="11155680" y="2103120"/>
            <a:ext cx="548640" cy="320040"/>
          </a:xfrm>
          <a:prstGeom prst="rect">
            <a:avLst/>
          </a:prstGeom>
          <a:noFill/>
        </p:spPr>
        <p:txBody>
          <a:bodyPr wrap="square">
            <a:spAutoFit/>
          </a:bodyPr>
          <a:lstStyle/>
          <a:p>
            <a:pPr algn="r">
              <a:defRPr sz="1400" b="1">
                <a:solidFill>
                  <a:srgbClr val="7C3AED"/>
                </a:solidFill>
                <a:latin typeface="Calibri"/>
              </a:defRPr>
            </a:pPr>
            <a:r>
              <a:t>30%</a:t>
            </a:r>
          </a:p>
        </p:txBody>
      </p:sp>
      <p:sp>
        <p:nvSpPr>
          <p:cNvPr id="28" name="TextBox 27"/>
          <p:cNvSpPr txBox="1"/>
          <p:nvPr/>
        </p:nvSpPr>
        <p:spPr>
          <a:xfrm>
            <a:off x="9189720" y="2468880"/>
            <a:ext cx="2514600" cy="502920"/>
          </a:xfrm>
          <a:prstGeom prst="rect">
            <a:avLst/>
          </a:prstGeom>
          <a:noFill/>
        </p:spPr>
        <p:txBody>
          <a:bodyPr wrap="square">
            <a:spAutoFit/>
          </a:bodyPr>
          <a:lstStyle/>
          <a:p>
            <a:pPr algn="l">
              <a:defRPr sz="1100" b="0">
                <a:solidFill>
                  <a:srgbClr val="94A3B8"/>
                </a:solidFill>
                <a:latin typeface="Calibri"/>
              </a:defRPr>
            </a:pPr>
            <a:r>
              <a:t>Single structured LLM call</a:t>
            </a:r>
          </a:p>
        </p:txBody>
      </p:sp>
      <p:sp>
        <p:nvSpPr>
          <p:cNvPr id="29" name="Rounded Rectangle 28"/>
          <p:cNvSpPr/>
          <p:nvPr/>
        </p:nvSpPr>
        <p:spPr>
          <a:xfrm>
            <a:off x="457200" y="3657600"/>
            <a:ext cx="269748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709160"/>
            <a:ext cx="2514600" cy="137160"/>
          </a:xfrm>
          <a:prstGeom prst="rect">
            <a:avLst/>
          </a:prstGeom>
          <a:solidFill>
            <a:srgbClr val="1A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709160"/>
            <a:ext cx="1760220" cy="1371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749040"/>
            <a:ext cx="1965960" cy="320040"/>
          </a:xfrm>
          <a:prstGeom prst="rect">
            <a:avLst/>
          </a:prstGeom>
          <a:noFill/>
        </p:spPr>
        <p:txBody>
          <a:bodyPr wrap="square">
            <a:spAutoFit/>
          </a:bodyPr>
          <a:lstStyle/>
          <a:p>
            <a:pPr algn="l">
              <a:defRPr sz="1300" b="1">
                <a:solidFill>
                  <a:srgbClr val="FFFFFF"/>
                </a:solidFill>
                <a:latin typeface="Calibri"/>
              </a:defRPr>
            </a:pPr>
            <a:r>
              <a:t>result_validation</a:t>
            </a:r>
          </a:p>
        </p:txBody>
      </p:sp>
      <p:sp>
        <p:nvSpPr>
          <p:cNvPr id="33" name="TextBox 32"/>
          <p:cNvSpPr txBox="1"/>
          <p:nvPr/>
        </p:nvSpPr>
        <p:spPr>
          <a:xfrm>
            <a:off x="2514600" y="3749040"/>
            <a:ext cx="548640" cy="320040"/>
          </a:xfrm>
          <a:prstGeom prst="rect">
            <a:avLst/>
          </a:prstGeom>
          <a:noFill/>
        </p:spPr>
        <p:txBody>
          <a:bodyPr wrap="square">
            <a:spAutoFit/>
          </a:bodyPr>
          <a:lstStyle/>
          <a:p>
            <a:pPr algn="r">
              <a:defRPr sz="1400" b="1">
                <a:solidFill>
                  <a:srgbClr val="8B5CF6"/>
                </a:solidFill>
                <a:latin typeface="Calibri"/>
              </a:defRPr>
            </a:pPr>
            <a:r>
              <a:t>70%</a:t>
            </a:r>
          </a:p>
        </p:txBody>
      </p:sp>
      <p:sp>
        <p:nvSpPr>
          <p:cNvPr id="34" name="TextBox 33"/>
          <p:cNvSpPr txBox="1"/>
          <p:nvPr/>
        </p:nvSpPr>
        <p:spPr>
          <a:xfrm>
            <a:off x="548640" y="4114800"/>
            <a:ext cx="2514600" cy="502920"/>
          </a:xfrm>
          <a:prstGeom prst="rect">
            <a:avLst/>
          </a:prstGeom>
          <a:noFill/>
        </p:spPr>
        <p:txBody>
          <a:bodyPr wrap="square">
            <a:spAutoFit/>
          </a:bodyPr>
          <a:lstStyle/>
          <a:p>
            <a:pPr algn="l">
              <a:defRPr sz="1100" b="0">
                <a:solidFill>
                  <a:srgbClr val="94A3B8"/>
                </a:solidFill>
                <a:latin typeface="Calibri"/>
              </a:defRPr>
            </a:pPr>
            <a:r>
              <a:t>Schema validation of JSON output</a:t>
            </a:r>
          </a:p>
        </p:txBody>
      </p:sp>
      <p:sp>
        <p:nvSpPr>
          <p:cNvPr id="35" name="Rounded Rectangle 34"/>
          <p:cNvSpPr/>
          <p:nvPr/>
        </p:nvSpPr>
        <p:spPr>
          <a:xfrm>
            <a:off x="3337560" y="3657600"/>
            <a:ext cx="269748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429000" y="4709160"/>
            <a:ext cx="2514600" cy="137160"/>
          </a:xfrm>
          <a:prstGeom prst="rect">
            <a:avLst/>
          </a:prstGeom>
          <a:solidFill>
            <a:srgbClr val="1A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429000" y="4709160"/>
            <a:ext cx="2011680" cy="1371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29000" y="3749040"/>
            <a:ext cx="1965960" cy="320040"/>
          </a:xfrm>
          <a:prstGeom prst="rect">
            <a:avLst/>
          </a:prstGeom>
          <a:noFill/>
        </p:spPr>
        <p:txBody>
          <a:bodyPr wrap="square">
            <a:spAutoFit/>
          </a:bodyPr>
          <a:lstStyle/>
          <a:p>
            <a:pPr algn="l">
              <a:defRPr sz="1300" b="1">
                <a:solidFill>
                  <a:srgbClr val="FFFFFF"/>
                </a:solidFill>
                <a:latin typeface="Calibri"/>
              </a:defRPr>
            </a:pPr>
            <a:r>
              <a:t>database_persistence</a:t>
            </a:r>
          </a:p>
        </p:txBody>
      </p:sp>
      <p:sp>
        <p:nvSpPr>
          <p:cNvPr id="39" name="TextBox 38"/>
          <p:cNvSpPr txBox="1"/>
          <p:nvPr/>
        </p:nvSpPr>
        <p:spPr>
          <a:xfrm>
            <a:off x="5394960" y="3749040"/>
            <a:ext cx="548640" cy="320040"/>
          </a:xfrm>
          <a:prstGeom prst="rect">
            <a:avLst/>
          </a:prstGeom>
          <a:noFill/>
        </p:spPr>
        <p:txBody>
          <a:bodyPr wrap="square">
            <a:spAutoFit/>
          </a:bodyPr>
          <a:lstStyle/>
          <a:p>
            <a:pPr algn="r">
              <a:defRPr sz="1400" b="1">
                <a:solidFill>
                  <a:srgbClr val="10B981"/>
                </a:solidFill>
                <a:latin typeface="Calibri"/>
              </a:defRPr>
            </a:pPr>
            <a:r>
              <a:t>80%</a:t>
            </a:r>
          </a:p>
        </p:txBody>
      </p:sp>
      <p:sp>
        <p:nvSpPr>
          <p:cNvPr id="40" name="TextBox 39"/>
          <p:cNvSpPr txBox="1"/>
          <p:nvPr/>
        </p:nvSpPr>
        <p:spPr>
          <a:xfrm>
            <a:off x="3429000" y="4114800"/>
            <a:ext cx="2514600" cy="502920"/>
          </a:xfrm>
          <a:prstGeom prst="rect">
            <a:avLst/>
          </a:prstGeom>
          <a:noFill/>
        </p:spPr>
        <p:txBody>
          <a:bodyPr wrap="square">
            <a:spAutoFit/>
          </a:bodyPr>
          <a:lstStyle/>
          <a:p>
            <a:pPr algn="l">
              <a:defRPr sz="1100" b="0">
                <a:solidFill>
                  <a:srgbClr val="94A3B8"/>
                </a:solidFill>
                <a:latin typeface="Calibri"/>
              </a:defRPr>
            </a:pPr>
            <a:r>
              <a:t>Idempotent write to PostgreSQL</a:t>
            </a:r>
          </a:p>
        </p:txBody>
      </p:sp>
      <p:sp>
        <p:nvSpPr>
          <p:cNvPr id="41" name="Rounded Rectangle 40"/>
          <p:cNvSpPr/>
          <p:nvPr/>
        </p:nvSpPr>
        <p:spPr>
          <a:xfrm>
            <a:off x="6217920" y="3657600"/>
            <a:ext cx="269748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09360" y="4709160"/>
            <a:ext cx="2514600" cy="137160"/>
          </a:xfrm>
          <a:prstGeom prst="rect">
            <a:avLst/>
          </a:prstGeom>
          <a:solidFill>
            <a:srgbClr val="1A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309360" y="4709160"/>
            <a:ext cx="2388870" cy="1371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0" y="3749040"/>
            <a:ext cx="1965960" cy="320040"/>
          </a:xfrm>
          <a:prstGeom prst="rect">
            <a:avLst/>
          </a:prstGeom>
          <a:noFill/>
        </p:spPr>
        <p:txBody>
          <a:bodyPr wrap="square">
            <a:spAutoFit/>
          </a:bodyPr>
          <a:lstStyle/>
          <a:p>
            <a:pPr algn="l">
              <a:defRPr sz="1300" b="1">
                <a:solidFill>
                  <a:srgbClr val="FFFFFF"/>
                </a:solidFill>
                <a:latin typeface="Calibri"/>
              </a:defRPr>
            </a:pPr>
            <a:r>
              <a:t>awaiting_review</a:t>
            </a:r>
          </a:p>
        </p:txBody>
      </p:sp>
      <p:sp>
        <p:nvSpPr>
          <p:cNvPr id="45" name="TextBox 44"/>
          <p:cNvSpPr txBox="1"/>
          <p:nvPr/>
        </p:nvSpPr>
        <p:spPr>
          <a:xfrm>
            <a:off x="8275320" y="3749040"/>
            <a:ext cx="548640" cy="320040"/>
          </a:xfrm>
          <a:prstGeom prst="rect">
            <a:avLst/>
          </a:prstGeom>
          <a:noFill/>
        </p:spPr>
        <p:txBody>
          <a:bodyPr wrap="square">
            <a:spAutoFit/>
          </a:bodyPr>
          <a:lstStyle/>
          <a:p>
            <a:pPr algn="r">
              <a:defRPr sz="1400" b="1">
                <a:solidFill>
                  <a:srgbClr val="F59E0B"/>
                </a:solidFill>
                <a:latin typeface="Calibri"/>
              </a:defRPr>
            </a:pPr>
            <a:r>
              <a:t>95%</a:t>
            </a:r>
          </a:p>
        </p:txBody>
      </p:sp>
      <p:sp>
        <p:nvSpPr>
          <p:cNvPr id="46" name="TextBox 45"/>
          <p:cNvSpPr txBox="1"/>
          <p:nvPr/>
        </p:nvSpPr>
        <p:spPr>
          <a:xfrm>
            <a:off x="6309360" y="4114800"/>
            <a:ext cx="2514600" cy="502920"/>
          </a:xfrm>
          <a:prstGeom prst="rect">
            <a:avLst/>
          </a:prstGeom>
          <a:noFill/>
        </p:spPr>
        <p:txBody>
          <a:bodyPr wrap="square">
            <a:spAutoFit/>
          </a:bodyPr>
          <a:lstStyle/>
          <a:p>
            <a:pPr algn="l">
              <a:defRPr sz="1100" b="0">
                <a:solidFill>
                  <a:srgbClr val="94A3B8"/>
                </a:solidFill>
                <a:latin typeface="Calibri"/>
              </a:defRPr>
            </a:pPr>
            <a:r>
              <a:t>Human approval boundary</a:t>
            </a:r>
          </a:p>
        </p:txBody>
      </p:sp>
      <p:sp>
        <p:nvSpPr>
          <p:cNvPr id="47" name="Rounded Rectangle 46"/>
          <p:cNvSpPr/>
          <p:nvPr/>
        </p:nvSpPr>
        <p:spPr>
          <a:xfrm>
            <a:off x="9098280" y="3657600"/>
            <a:ext cx="269748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89720" y="4709160"/>
            <a:ext cx="2514600" cy="137160"/>
          </a:xfrm>
          <a:prstGeom prst="rect">
            <a:avLst/>
          </a:prstGeom>
          <a:solidFill>
            <a:srgbClr val="1A1F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189720" y="4709160"/>
            <a:ext cx="2514600" cy="1371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89720" y="3749040"/>
            <a:ext cx="1965960" cy="320040"/>
          </a:xfrm>
          <a:prstGeom prst="rect">
            <a:avLst/>
          </a:prstGeom>
          <a:noFill/>
        </p:spPr>
        <p:txBody>
          <a:bodyPr wrap="square">
            <a:spAutoFit/>
          </a:bodyPr>
          <a:lstStyle/>
          <a:p>
            <a:pPr algn="l">
              <a:defRPr sz="1300" b="1">
                <a:solidFill>
                  <a:srgbClr val="FFFFFF"/>
                </a:solidFill>
                <a:latin typeface="Calibri"/>
              </a:defRPr>
            </a:pPr>
            <a:r>
              <a:t>completed</a:t>
            </a:r>
          </a:p>
        </p:txBody>
      </p:sp>
      <p:sp>
        <p:nvSpPr>
          <p:cNvPr id="51" name="TextBox 50"/>
          <p:cNvSpPr txBox="1"/>
          <p:nvPr/>
        </p:nvSpPr>
        <p:spPr>
          <a:xfrm>
            <a:off x="11155680" y="3749040"/>
            <a:ext cx="548640" cy="320040"/>
          </a:xfrm>
          <a:prstGeom prst="rect">
            <a:avLst/>
          </a:prstGeom>
          <a:noFill/>
        </p:spPr>
        <p:txBody>
          <a:bodyPr wrap="square">
            <a:spAutoFit/>
          </a:bodyPr>
          <a:lstStyle/>
          <a:p>
            <a:pPr algn="r">
              <a:defRPr sz="1400" b="1">
                <a:solidFill>
                  <a:srgbClr val="10B981"/>
                </a:solidFill>
                <a:latin typeface="Calibri"/>
              </a:defRPr>
            </a:pPr>
            <a:r>
              <a:t>100%</a:t>
            </a:r>
          </a:p>
        </p:txBody>
      </p:sp>
      <p:sp>
        <p:nvSpPr>
          <p:cNvPr id="52" name="TextBox 51"/>
          <p:cNvSpPr txBox="1"/>
          <p:nvPr/>
        </p:nvSpPr>
        <p:spPr>
          <a:xfrm>
            <a:off x="9189720" y="4114800"/>
            <a:ext cx="2514600" cy="502920"/>
          </a:xfrm>
          <a:prstGeom prst="rect">
            <a:avLst/>
          </a:prstGeom>
          <a:noFill/>
        </p:spPr>
        <p:txBody>
          <a:bodyPr wrap="square">
            <a:spAutoFit/>
          </a:bodyPr>
          <a:lstStyle/>
          <a:p>
            <a:pPr algn="l">
              <a:defRPr sz="1100" b="0">
                <a:solidFill>
                  <a:srgbClr val="94A3B8"/>
                </a:solidFill>
                <a:latin typeface="Calibri"/>
              </a:defRPr>
            </a:pPr>
            <a:r>
              <a:t>Approved by reviewer</a:t>
            </a:r>
          </a:p>
        </p:txBody>
      </p:sp>
      <p:sp>
        <p:nvSpPr>
          <p:cNvPr id="53" name="Rounded Rectangle 52"/>
          <p:cNvSpPr/>
          <p:nvPr/>
        </p:nvSpPr>
        <p:spPr>
          <a:xfrm>
            <a:off x="457200" y="5486400"/>
            <a:ext cx="3566160" cy="100584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5577840"/>
            <a:ext cx="3291840" cy="274320"/>
          </a:xfrm>
          <a:prstGeom prst="rect">
            <a:avLst/>
          </a:prstGeom>
          <a:noFill/>
        </p:spPr>
        <p:txBody>
          <a:bodyPr wrap="square">
            <a:spAutoFit/>
          </a:bodyPr>
          <a:lstStyle/>
          <a:p>
            <a:pPr algn="l">
              <a:defRPr sz="1300" b="1">
                <a:solidFill>
                  <a:srgbClr val="7C3AED"/>
                </a:solidFill>
                <a:latin typeface="Calibri"/>
              </a:defRPr>
            </a:pPr>
            <a:r>
              <a:t>Status Values</a:t>
            </a:r>
          </a:p>
        </p:txBody>
      </p:sp>
      <p:sp>
        <p:nvSpPr>
          <p:cNvPr id="55" name="TextBox 54"/>
          <p:cNvSpPr txBox="1"/>
          <p:nvPr/>
        </p:nvSpPr>
        <p:spPr>
          <a:xfrm>
            <a:off x="594360" y="5852160"/>
            <a:ext cx="3291840" cy="548640"/>
          </a:xfrm>
          <a:prstGeom prst="rect">
            <a:avLst/>
          </a:prstGeom>
          <a:noFill/>
        </p:spPr>
        <p:txBody>
          <a:bodyPr wrap="square">
            <a:spAutoFit/>
          </a:bodyPr>
          <a:lstStyle/>
          <a:p>
            <a:pPr algn="l">
              <a:defRPr sz="1100" b="0">
                <a:solidFill>
                  <a:srgbClr val="CBD5E1"/>
                </a:solidFill>
                <a:latin typeface="Calibri"/>
              </a:defRPr>
            </a:pPr>
            <a:r>
              <a:t>processing | awaiting_review |</a:t>
            </a:r>
            <a:br/>
            <a:r>
              <a:t>completed | failed</a:t>
            </a:r>
          </a:p>
        </p:txBody>
      </p:sp>
      <p:sp>
        <p:nvSpPr>
          <p:cNvPr id="56" name="Rounded Rectangle 55"/>
          <p:cNvSpPr/>
          <p:nvPr/>
        </p:nvSpPr>
        <p:spPr>
          <a:xfrm>
            <a:off x="4297680" y="5486400"/>
            <a:ext cx="3566160" cy="100584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34840" y="5577840"/>
            <a:ext cx="3291840" cy="274320"/>
          </a:xfrm>
          <a:prstGeom prst="rect">
            <a:avLst/>
          </a:prstGeom>
          <a:noFill/>
        </p:spPr>
        <p:txBody>
          <a:bodyPr wrap="square">
            <a:spAutoFit/>
          </a:bodyPr>
          <a:lstStyle/>
          <a:p>
            <a:pPr algn="l">
              <a:defRPr sz="1300" b="1">
                <a:solidFill>
                  <a:srgbClr val="EF4444"/>
                </a:solidFill>
                <a:latin typeface="Calibri"/>
              </a:defRPr>
            </a:pPr>
            <a:r>
              <a:t>Failure Handling</a:t>
            </a:r>
          </a:p>
        </p:txBody>
      </p:sp>
      <p:sp>
        <p:nvSpPr>
          <p:cNvPr id="58" name="TextBox 57"/>
          <p:cNvSpPr txBox="1"/>
          <p:nvPr/>
        </p:nvSpPr>
        <p:spPr>
          <a:xfrm>
            <a:off x="4434840" y="5852160"/>
            <a:ext cx="3291840" cy="548640"/>
          </a:xfrm>
          <a:prstGeom prst="rect">
            <a:avLst/>
          </a:prstGeom>
          <a:noFill/>
        </p:spPr>
        <p:txBody>
          <a:bodyPr wrap="square">
            <a:spAutoFit/>
          </a:bodyPr>
          <a:lstStyle/>
          <a:p>
            <a:pPr algn="l">
              <a:defRPr sz="1100" b="0">
                <a:solidFill>
                  <a:srgbClr val="CBD5E1"/>
                </a:solidFill>
                <a:latin typeface="Calibri"/>
              </a:defRPr>
            </a:pPr>
            <a:r>
              <a:t>Error preserved, status set to 'failed',</a:t>
            </a:r>
            <a:br/>
            <a:r>
              <a:t>retry increments attempt counter</a:t>
            </a:r>
          </a:p>
        </p:txBody>
      </p:sp>
      <p:sp>
        <p:nvSpPr>
          <p:cNvPr id="59" name="Rounded Rectangle 58"/>
          <p:cNvSpPr/>
          <p:nvPr/>
        </p:nvSpPr>
        <p:spPr>
          <a:xfrm>
            <a:off x="8138160" y="5486400"/>
            <a:ext cx="3566160" cy="100584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75320" y="5577840"/>
            <a:ext cx="3291840" cy="274320"/>
          </a:xfrm>
          <a:prstGeom prst="rect">
            <a:avLst/>
          </a:prstGeom>
          <a:noFill/>
        </p:spPr>
        <p:txBody>
          <a:bodyPr wrap="square">
            <a:spAutoFit/>
          </a:bodyPr>
          <a:lstStyle/>
          <a:p>
            <a:pPr algn="l">
              <a:defRPr sz="1300" b="1">
                <a:solidFill>
                  <a:srgbClr val="10B981"/>
                </a:solidFill>
                <a:latin typeface="Calibri"/>
              </a:defRPr>
            </a:pPr>
            <a:r>
              <a:t>Idempotent</a:t>
            </a:r>
          </a:p>
        </p:txBody>
      </p:sp>
      <p:sp>
        <p:nvSpPr>
          <p:cNvPr id="61" name="TextBox 60"/>
          <p:cNvSpPr txBox="1"/>
          <p:nvPr/>
        </p:nvSpPr>
        <p:spPr>
          <a:xfrm>
            <a:off x="8275320" y="5852160"/>
            <a:ext cx="3291840" cy="548640"/>
          </a:xfrm>
          <a:prstGeom prst="rect">
            <a:avLst/>
          </a:prstGeom>
          <a:noFill/>
        </p:spPr>
        <p:txBody>
          <a:bodyPr wrap="square">
            <a:spAutoFit/>
          </a:bodyPr>
          <a:lstStyle/>
          <a:p>
            <a:pPr algn="l">
              <a:defRPr sz="1100" b="0">
                <a:solidFill>
                  <a:srgbClr val="CBD5E1"/>
                </a:solidFill>
                <a:latin typeface="Calibri"/>
              </a:defRPr>
            </a:pPr>
            <a:r>
              <a:t>UniqueConstraint on meeting_id</a:t>
            </a:r>
            <a:br/>
            <a:r>
              <a:t>prevents duplicate workflows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Privacy-First Local AI</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2194560" cy="1188720"/>
          </a:xfrm>
          <a:prstGeom prst="roundRect">
            <a:avLst>
              <a:gd name="adj" fmla="val 5000"/>
            </a:avLst>
          </a:prstGeom>
          <a:solidFill>
            <a:srgbClr val="111522"/>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2011680" cy="914400"/>
          </a:xfrm>
          <a:prstGeom prst="rect">
            <a:avLst/>
          </a:prstGeom>
          <a:noFill/>
        </p:spPr>
        <p:txBody>
          <a:bodyPr wrap="square">
            <a:spAutoFit/>
          </a:bodyPr>
          <a:lstStyle/>
          <a:p>
            <a:pPr algn="ctr">
              <a:defRPr sz="1600" b="1">
                <a:solidFill>
                  <a:srgbClr val="FFFFFF"/>
                </a:solidFill>
                <a:latin typeface="Calibri"/>
              </a:defRPr>
            </a:pPr>
            <a:r>
              <a:t>Meeting</a:t>
            </a:r>
            <a:br/>
            <a:r>
              <a:t>Transcript</a:t>
            </a:r>
          </a:p>
        </p:txBody>
      </p:sp>
      <p:sp>
        <p:nvSpPr>
          <p:cNvPr id="6" name="Rounded Rectangle 5"/>
          <p:cNvSpPr/>
          <p:nvPr/>
        </p:nvSpPr>
        <p:spPr>
          <a:xfrm>
            <a:off x="3657600" y="1645920"/>
            <a:ext cx="2194560" cy="1188720"/>
          </a:xfrm>
          <a:prstGeom prst="roundRect">
            <a:avLst>
              <a:gd name="adj" fmla="val 5000"/>
            </a:avLst>
          </a:prstGeom>
          <a:solidFill>
            <a:srgbClr val="111522"/>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0" y="1783080"/>
            <a:ext cx="2011680" cy="914400"/>
          </a:xfrm>
          <a:prstGeom prst="rect">
            <a:avLst/>
          </a:prstGeom>
          <a:noFill/>
        </p:spPr>
        <p:txBody>
          <a:bodyPr wrap="square">
            <a:spAutoFit/>
          </a:bodyPr>
          <a:lstStyle/>
          <a:p>
            <a:pPr algn="ctr">
              <a:defRPr sz="1600" b="1">
                <a:solidFill>
                  <a:srgbClr val="FFFFFF"/>
                </a:solidFill>
                <a:latin typeface="Calibri"/>
              </a:defRPr>
            </a:pPr>
            <a:r>
              <a:t>Local Ollama</a:t>
            </a:r>
            <a:br/>
            <a:r>
              <a:t>Runtime</a:t>
            </a:r>
          </a:p>
        </p:txBody>
      </p:sp>
      <p:sp>
        <p:nvSpPr>
          <p:cNvPr id="8" name="Rounded Rectangle 7"/>
          <p:cNvSpPr/>
          <p:nvPr/>
        </p:nvSpPr>
        <p:spPr>
          <a:xfrm>
            <a:off x="6583680" y="1645920"/>
            <a:ext cx="2194560" cy="1188720"/>
          </a:xfrm>
          <a:prstGeom prst="roundRect">
            <a:avLst>
              <a:gd name="adj" fmla="val 5000"/>
            </a:avLst>
          </a:prstGeom>
          <a:solidFill>
            <a:srgbClr val="111522"/>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783080"/>
            <a:ext cx="2011680" cy="914400"/>
          </a:xfrm>
          <a:prstGeom prst="rect">
            <a:avLst/>
          </a:prstGeom>
          <a:noFill/>
        </p:spPr>
        <p:txBody>
          <a:bodyPr wrap="square">
            <a:spAutoFit/>
          </a:bodyPr>
          <a:lstStyle/>
          <a:p>
            <a:pPr algn="ctr">
              <a:defRPr sz="1600" b="1">
                <a:solidFill>
                  <a:srgbClr val="FFFFFF"/>
                </a:solidFill>
                <a:latin typeface="Calibri"/>
              </a:defRPr>
            </a:pPr>
            <a:r>
              <a:t>Structured</a:t>
            </a:r>
            <a:br/>
            <a:r>
              <a:t>JSON</a:t>
            </a:r>
          </a:p>
        </p:txBody>
      </p:sp>
      <p:sp>
        <p:nvSpPr>
          <p:cNvPr id="10" name="Rounded Rectangle 9"/>
          <p:cNvSpPr/>
          <p:nvPr/>
        </p:nvSpPr>
        <p:spPr>
          <a:xfrm>
            <a:off x="9509760" y="1645920"/>
            <a:ext cx="2194560" cy="1188720"/>
          </a:xfrm>
          <a:prstGeom prst="roundRect">
            <a:avLst>
              <a:gd name="adj" fmla="val 5000"/>
            </a:avLst>
          </a:prstGeom>
          <a:solidFill>
            <a:srgbClr val="111522"/>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0" y="1783080"/>
            <a:ext cx="2011680" cy="914400"/>
          </a:xfrm>
          <a:prstGeom prst="rect">
            <a:avLst/>
          </a:prstGeom>
          <a:noFill/>
        </p:spPr>
        <p:txBody>
          <a:bodyPr wrap="square">
            <a:spAutoFit/>
          </a:bodyPr>
          <a:lstStyle/>
          <a:p>
            <a:pPr algn="ctr">
              <a:defRPr sz="1600" b="1">
                <a:solidFill>
                  <a:srgbClr val="FFFFFF"/>
                </a:solidFill>
                <a:latin typeface="Calibri"/>
              </a:defRPr>
            </a:pPr>
            <a:r>
              <a:t>Cortex</a:t>
            </a:r>
            <a:br/>
            <a:r>
              <a:t>Database</a:t>
            </a:r>
          </a:p>
        </p:txBody>
      </p:sp>
      <p:sp>
        <p:nvSpPr>
          <p:cNvPr id="12" name="Right Arrow 11"/>
          <p:cNvSpPr/>
          <p:nvPr/>
        </p:nvSpPr>
        <p:spPr>
          <a:xfrm>
            <a:off x="2926080" y="2057400"/>
            <a:ext cx="73152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5852160" y="2057400"/>
            <a:ext cx="73152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78240" y="2057400"/>
            <a:ext cx="731520" cy="27432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200400"/>
            <a:ext cx="1645920" cy="274320"/>
          </a:xfrm>
          <a:prstGeom prst="rect">
            <a:avLst/>
          </a:prstGeom>
          <a:noFill/>
        </p:spPr>
        <p:txBody>
          <a:bodyPr wrap="square">
            <a:spAutoFit/>
          </a:bodyPr>
          <a:lstStyle/>
          <a:p>
            <a:pPr algn="l">
              <a:defRPr sz="1400" b="1">
                <a:solidFill>
                  <a:srgbClr val="7C3AED"/>
                </a:solidFill>
                <a:latin typeface="Calibri"/>
              </a:defRPr>
            </a:pPr>
            <a:r>
              <a:t>Model</a:t>
            </a:r>
          </a:p>
        </p:txBody>
      </p:sp>
      <p:sp>
        <p:nvSpPr>
          <p:cNvPr id="16" name="TextBox 15"/>
          <p:cNvSpPr txBox="1"/>
          <p:nvPr/>
        </p:nvSpPr>
        <p:spPr>
          <a:xfrm>
            <a:off x="2377440" y="3200400"/>
            <a:ext cx="3200400" cy="640080"/>
          </a:xfrm>
          <a:prstGeom prst="rect">
            <a:avLst/>
          </a:prstGeom>
          <a:noFill/>
        </p:spPr>
        <p:txBody>
          <a:bodyPr wrap="square">
            <a:spAutoFit/>
          </a:bodyPr>
          <a:lstStyle/>
          <a:p>
            <a:pPr algn="l">
              <a:defRPr sz="1400" b="0">
                <a:solidFill>
                  <a:srgbClr val="CBD5E1"/>
                </a:solidFill>
                <a:latin typeface="Calibri"/>
              </a:defRPr>
            </a:pPr>
            <a:r>
              <a:t>qwen3:4b-instruct</a:t>
            </a:r>
          </a:p>
        </p:txBody>
      </p:sp>
      <p:sp>
        <p:nvSpPr>
          <p:cNvPr id="17" name="TextBox 16"/>
          <p:cNvSpPr txBox="1"/>
          <p:nvPr/>
        </p:nvSpPr>
        <p:spPr>
          <a:xfrm>
            <a:off x="731520" y="4023360"/>
            <a:ext cx="1645920" cy="274320"/>
          </a:xfrm>
          <a:prstGeom prst="rect">
            <a:avLst/>
          </a:prstGeom>
          <a:noFill/>
        </p:spPr>
        <p:txBody>
          <a:bodyPr wrap="square">
            <a:spAutoFit/>
          </a:bodyPr>
          <a:lstStyle/>
          <a:p>
            <a:pPr algn="l">
              <a:defRPr sz="1400" b="1">
                <a:solidFill>
                  <a:srgbClr val="10B981"/>
                </a:solidFill>
                <a:latin typeface="Calibri"/>
              </a:defRPr>
            </a:pPr>
            <a:r>
              <a:t>Runtime</a:t>
            </a:r>
          </a:p>
        </p:txBody>
      </p:sp>
      <p:sp>
        <p:nvSpPr>
          <p:cNvPr id="18" name="TextBox 17"/>
          <p:cNvSpPr txBox="1"/>
          <p:nvPr/>
        </p:nvSpPr>
        <p:spPr>
          <a:xfrm>
            <a:off x="2377440" y="4023360"/>
            <a:ext cx="3200400" cy="640080"/>
          </a:xfrm>
          <a:prstGeom prst="rect">
            <a:avLst/>
          </a:prstGeom>
          <a:noFill/>
        </p:spPr>
        <p:txBody>
          <a:bodyPr wrap="square">
            <a:spAutoFit/>
          </a:bodyPr>
          <a:lstStyle/>
          <a:p>
            <a:pPr algn="l">
              <a:defRPr sz="1400" b="0">
                <a:solidFill>
                  <a:srgbClr val="CBD5E1"/>
                </a:solidFill>
                <a:latin typeface="Calibri"/>
              </a:defRPr>
            </a:pPr>
            <a:r>
              <a:t>Ollama (local)</a:t>
            </a:r>
          </a:p>
        </p:txBody>
      </p:sp>
      <p:sp>
        <p:nvSpPr>
          <p:cNvPr id="19" name="TextBox 18"/>
          <p:cNvSpPr txBox="1"/>
          <p:nvPr/>
        </p:nvSpPr>
        <p:spPr>
          <a:xfrm>
            <a:off x="731520" y="4846320"/>
            <a:ext cx="1645920" cy="274320"/>
          </a:xfrm>
          <a:prstGeom prst="rect">
            <a:avLst/>
          </a:prstGeom>
          <a:noFill/>
        </p:spPr>
        <p:txBody>
          <a:bodyPr wrap="square">
            <a:spAutoFit/>
          </a:bodyPr>
          <a:lstStyle/>
          <a:p>
            <a:pPr algn="l">
              <a:defRPr sz="1400" b="1">
                <a:solidFill>
                  <a:srgbClr val="3B82F6"/>
                </a:solidFill>
                <a:latin typeface="Calibri"/>
              </a:defRPr>
            </a:pPr>
            <a:r>
              <a:t>Output</a:t>
            </a:r>
          </a:p>
        </p:txBody>
      </p:sp>
      <p:sp>
        <p:nvSpPr>
          <p:cNvPr id="20" name="TextBox 19"/>
          <p:cNvSpPr txBox="1"/>
          <p:nvPr/>
        </p:nvSpPr>
        <p:spPr>
          <a:xfrm>
            <a:off x="2377440" y="4846320"/>
            <a:ext cx="3200400" cy="640080"/>
          </a:xfrm>
          <a:prstGeom prst="rect">
            <a:avLst/>
          </a:prstGeom>
          <a:noFill/>
        </p:spPr>
        <p:txBody>
          <a:bodyPr wrap="square">
            <a:spAutoFit/>
          </a:bodyPr>
          <a:lstStyle/>
          <a:p>
            <a:pPr algn="l">
              <a:defRPr sz="1400" b="0">
                <a:solidFill>
                  <a:srgbClr val="CBD5E1"/>
                </a:solidFill>
                <a:latin typeface="Calibri"/>
              </a:defRPr>
            </a:pPr>
            <a:r>
              <a:t>Structured JSON via schema</a:t>
            </a:r>
          </a:p>
        </p:txBody>
      </p:sp>
      <p:sp>
        <p:nvSpPr>
          <p:cNvPr id="21" name="TextBox 20"/>
          <p:cNvSpPr txBox="1"/>
          <p:nvPr/>
        </p:nvSpPr>
        <p:spPr>
          <a:xfrm>
            <a:off x="731520" y="5669280"/>
            <a:ext cx="1645920" cy="274320"/>
          </a:xfrm>
          <a:prstGeom prst="rect">
            <a:avLst/>
          </a:prstGeom>
          <a:noFill/>
        </p:spPr>
        <p:txBody>
          <a:bodyPr wrap="square">
            <a:spAutoFit/>
          </a:bodyPr>
          <a:lstStyle/>
          <a:p>
            <a:pPr algn="l">
              <a:defRPr sz="1400" b="1">
                <a:solidFill>
                  <a:srgbClr val="06B6D4"/>
                </a:solidFill>
                <a:latin typeface="Calibri"/>
              </a:defRPr>
            </a:pPr>
            <a:r>
              <a:t>Health Check</a:t>
            </a:r>
          </a:p>
        </p:txBody>
      </p:sp>
      <p:sp>
        <p:nvSpPr>
          <p:cNvPr id="22" name="TextBox 21"/>
          <p:cNvSpPr txBox="1"/>
          <p:nvPr/>
        </p:nvSpPr>
        <p:spPr>
          <a:xfrm>
            <a:off x="2377440" y="5669280"/>
            <a:ext cx="3200400" cy="640080"/>
          </a:xfrm>
          <a:prstGeom prst="rect">
            <a:avLst/>
          </a:prstGeom>
          <a:noFill/>
        </p:spPr>
        <p:txBody>
          <a:bodyPr wrap="square">
            <a:spAutoFit/>
          </a:bodyPr>
          <a:lstStyle/>
          <a:p>
            <a:pPr algn="l">
              <a:defRPr sz="1400" b="0">
                <a:solidFill>
                  <a:srgbClr val="CBD5E1"/>
                </a:solidFill>
                <a:latin typeface="Calibri"/>
              </a:defRPr>
            </a:pPr>
            <a:r>
              <a:t>Model availability verified</a:t>
            </a:r>
          </a:p>
        </p:txBody>
      </p:sp>
      <p:sp>
        <p:nvSpPr>
          <p:cNvPr id="23" name="TextBox 22"/>
          <p:cNvSpPr txBox="1"/>
          <p:nvPr/>
        </p:nvSpPr>
        <p:spPr>
          <a:xfrm>
            <a:off x="6400800" y="3200400"/>
            <a:ext cx="1828800" cy="274320"/>
          </a:xfrm>
          <a:prstGeom prst="rect">
            <a:avLst/>
          </a:prstGeom>
          <a:noFill/>
        </p:spPr>
        <p:txBody>
          <a:bodyPr wrap="square">
            <a:spAutoFit/>
          </a:bodyPr>
          <a:lstStyle/>
          <a:p>
            <a:pPr algn="l">
              <a:defRPr sz="1400" b="1">
                <a:solidFill>
                  <a:srgbClr val="8B5CF6"/>
                </a:solidFill>
                <a:latin typeface="Calibri"/>
              </a:defRPr>
            </a:pPr>
            <a:r>
              <a:t>Schema</a:t>
            </a:r>
          </a:p>
        </p:txBody>
      </p:sp>
      <p:sp>
        <p:nvSpPr>
          <p:cNvPr id="24" name="TextBox 23"/>
          <p:cNvSpPr txBox="1"/>
          <p:nvPr/>
        </p:nvSpPr>
        <p:spPr>
          <a:xfrm>
            <a:off x="8229600" y="3200400"/>
            <a:ext cx="3657600" cy="640080"/>
          </a:xfrm>
          <a:prstGeom prst="rect">
            <a:avLst/>
          </a:prstGeom>
          <a:noFill/>
        </p:spPr>
        <p:txBody>
          <a:bodyPr wrap="square">
            <a:spAutoFit/>
          </a:bodyPr>
          <a:lstStyle/>
          <a:p>
            <a:pPr algn="l">
              <a:defRPr sz="1400" b="0">
                <a:solidFill>
                  <a:srgbClr val="CBD5E1"/>
                </a:solidFill>
                <a:latin typeface="Calibri"/>
              </a:defRPr>
            </a:pPr>
            <a:r>
              <a:t>Dereferenced $defs/$ref for</a:t>
            </a:r>
            <a:br/>
            <a:r>
              <a:t>Ollama grammar performance</a:t>
            </a:r>
          </a:p>
        </p:txBody>
      </p:sp>
      <p:sp>
        <p:nvSpPr>
          <p:cNvPr id="25" name="TextBox 24"/>
          <p:cNvSpPr txBox="1"/>
          <p:nvPr/>
        </p:nvSpPr>
        <p:spPr>
          <a:xfrm>
            <a:off x="6400800" y="4023360"/>
            <a:ext cx="1828800" cy="274320"/>
          </a:xfrm>
          <a:prstGeom prst="rect">
            <a:avLst/>
          </a:prstGeom>
          <a:noFill/>
        </p:spPr>
        <p:txBody>
          <a:bodyPr wrap="square">
            <a:spAutoFit/>
          </a:bodyPr>
          <a:lstStyle/>
          <a:p>
            <a:pPr algn="l">
              <a:defRPr sz="1400" b="1">
                <a:solidFill>
                  <a:srgbClr val="F59E0B"/>
                </a:solidFill>
                <a:latin typeface="Calibri"/>
              </a:defRPr>
            </a:pPr>
            <a:r>
              <a:t>Timeout</a:t>
            </a:r>
          </a:p>
        </p:txBody>
      </p:sp>
      <p:sp>
        <p:nvSpPr>
          <p:cNvPr id="26" name="TextBox 25"/>
          <p:cNvSpPr txBox="1"/>
          <p:nvPr/>
        </p:nvSpPr>
        <p:spPr>
          <a:xfrm>
            <a:off x="8229600" y="4023360"/>
            <a:ext cx="3657600" cy="640080"/>
          </a:xfrm>
          <a:prstGeom prst="rect">
            <a:avLst/>
          </a:prstGeom>
          <a:noFill/>
        </p:spPr>
        <p:txBody>
          <a:bodyPr wrap="square">
            <a:spAutoFit/>
          </a:bodyPr>
          <a:lstStyle/>
          <a:p>
            <a:pPr algn="l">
              <a:defRPr sz="1400" b="0">
                <a:solidFill>
                  <a:srgbClr val="CBD5E1"/>
                </a:solidFill>
                <a:latin typeface="Calibri"/>
              </a:defRPr>
            </a:pPr>
            <a:r>
              <a:t>Configurable (LLM_TIMEOUT_SECONDS)</a:t>
            </a:r>
            <a:br/>
            <a:r>
              <a:t>with retry support</a:t>
            </a:r>
          </a:p>
        </p:txBody>
      </p:sp>
      <p:sp>
        <p:nvSpPr>
          <p:cNvPr id="27" name="TextBox 26"/>
          <p:cNvSpPr txBox="1"/>
          <p:nvPr/>
        </p:nvSpPr>
        <p:spPr>
          <a:xfrm>
            <a:off x="6400800" y="4846320"/>
            <a:ext cx="1828800" cy="274320"/>
          </a:xfrm>
          <a:prstGeom prst="rect">
            <a:avLst/>
          </a:prstGeom>
          <a:noFill/>
        </p:spPr>
        <p:txBody>
          <a:bodyPr wrap="square">
            <a:spAutoFit/>
          </a:bodyPr>
          <a:lstStyle/>
          <a:p>
            <a:pPr algn="l">
              <a:defRPr sz="1400" b="1">
                <a:solidFill>
                  <a:srgbClr val="EC4899"/>
                </a:solidFill>
                <a:latin typeface="Calibri"/>
              </a:defRPr>
            </a:pPr>
            <a:r>
              <a:t>Providers</a:t>
            </a:r>
          </a:p>
        </p:txBody>
      </p:sp>
      <p:sp>
        <p:nvSpPr>
          <p:cNvPr id="28" name="TextBox 27"/>
          <p:cNvSpPr txBox="1"/>
          <p:nvPr/>
        </p:nvSpPr>
        <p:spPr>
          <a:xfrm>
            <a:off x="8229600" y="4846320"/>
            <a:ext cx="3657600" cy="640080"/>
          </a:xfrm>
          <a:prstGeom prst="rect">
            <a:avLst/>
          </a:prstGeom>
          <a:noFill/>
        </p:spPr>
        <p:txBody>
          <a:bodyPr wrap="square">
            <a:spAutoFit/>
          </a:bodyPr>
          <a:lstStyle/>
          <a:p>
            <a:pPr algn="l">
              <a:defRPr sz="1400" b="0">
                <a:solidFill>
                  <a:srgbClr val="CBD5E1"/>
                </a:solidFill>
                <a:latin typeface="Calibri"/>
              </a:defRPr>
            </a:pPr>
            <a:r>
              <a:t>mock | ollama | openai</a:t>
            </a:r>
            <a:br/>
            <a:r>
              <a:t>via LLM_PROVIDER setting</a:t>
            </a:r>
          </a:p>
        </p:txBody>
      </p:sp>
      <p:sp>
        <p:nvSpPr>
          <p:cNvPr id="29" name="TextBox 28"/>
          <p:cNvSpPr txBox="1"/>
          <p:nvPr/>
        </p:nvSpPr>
        <p:spPr>
          <a:xfrm>
            <a:off x="6400800" y="5669280"/>
            <a:ext cx="1828800" cy="274320"/>
          </a:xfrm>
          <a:prstGeom prst="rect">
            <a:avLst/>
          </a:prstGeom>
          <a:noFill/>
        </p:spPr>
        <p:txBody>
          <a:bodyPr wrap="square">
            <a:spAutoFit/>
          </a:bodyPr>
          <a:lstStyle/>
          <a:p>
            <a:pPr algn="l">
              <a:defRPr sz="1400" b="1">
                <a:solidFill>
                  <a:srgbClr val="EF4444"/>
                </a:solidFill>
                <a:latin typeface="Calibri"/>
              </a:defRPr>
            </a:pPr>
            <a:r>
              <a:t>Prompt Injection</a:t>
            </a:r>
          </a:p>
        </p:txBody>
      </p:sp>
      <p:sp>
        <p:nvSpPr>
          <p:cNvPr id="30" name="TextBox 29"/>
          <p:cNvSpPr txBox="1"/>
          <p:nvPr/>
        </p:nvSpPr>
        <p:spPr>
          <a:xfrm>
            <a:off x="8229600" y="5669280"/>
            <a:ext cx="3657600" cy="640080"/>
          </a:xfrm>
          <a:prstGeom prst="rect">
            <a:avLst/>
          </a:prstGeom>
          <a:noFill/>
        </p:spPr>
        <p:txBody>
          <a:bodyPr wrap="square">
            <a:spAutoFit/>
          </a:bodyPr>
          <a:lstStyle/>
          <a:p>
            <a:pPr algn="l">
              <a:defRPr sz="1400" b="0">
                <a:solidFill>
                  <a:srgbClr val="CBD5E1"/>
                </a:solidFill>
                <a:latin typeface="Calibri"/>
              </a:defRPr>
            </a:pPr>
            <a:r>
              <a:t>Transcript treated as data only;</a:t>
            </a:r>
            <a:br/>
            <a:r>
              <a:t>instructions in transcript ignored</a:t>
            </a:r>
          </a:p>
        </p:txBody>
      </p:sp>
      <p:sp>
        <p:nvSpPr>
          <p:cNvPr id="31" name="Rounded Rectangle 30"/>
          <p:cNvSpPr/>
          <p:nvPr/>
        </p:nvSpPr>
        <p:spPr>
          <a:xfrm>
            <a:off x="457200" y="6217920"/>
            <a:ext cx="11247120" cy="457200"/>
          </a:xfrm>
          <a:prstGeom prst="roundRect">
            <a:avLst>
              <a:gd name="adj" fmla="val 5000"/>
            </a:avLst>
          </a:prstGeom>
          <a:solidFill>
            <a:srgbClr val="1A140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263640"/>
            <a:ext cx="10972800" cy="365760"/>
          </a:xfrm>
          <a:prstGeom prst="rect">
            <a:avLst/>
          </a:prstGeom>
          <a:noFill/>
        </p:spPr>
        <p:txBody>
          <a:bodyPr wrap="square">
            <a:spAutoFit/>
          </a:bodyPr>
          <a:lstStyle/>
          <a:p>
            <a:pPr algn="l">
              <a:defRPr sz="1300" b="0">
                <a:solidFill>
                  <a:srgbClr val="F59E0B"/>
                </a:solidFill>
                <a:latin typeface="Calibri"/>
              </a:defRPr>
            </a:pPr>
            <a:r>
              <a:t>Honest Note: Local CPU inference takes ~1-3 minutes per transcript. Speed depends on hardware. GPU recommended for production.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System Architecture</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20640" y="1371600"/>
            <a:ext cx="2011680" cy="731520"/>
          </a:xfrm>
          <a:prstGeom prst="roundRect">
            <a:avLst>
              <a:gd name="adj" fmla="val 5000"/>
            </a:avLst>
          </a:prstGeom>
          <a:solidFill>
            <a:srgbClr val="111522"/>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0" y="1417320"/>
            <a:ext cx="2011680" cy="640080"/>
          </a:xfrm>
          <a:prstGeom prst="rect">
            <a:avLst/>
          </a:prstGeom>
          <a:noFill/>
        </p:spPr>
        <p:txBody>
          <a:bodyPr wrap="square">
            <a:spAutoFit/>
          </a:bodyPr>
          <a:lstStyle/>
          <a:p>
            <a:pPr algn="ctr">
              <a:defRPr sz="1600" b="1">
                <a:solidFill>
                  <a:srgbClr val="06B6D4"/>
                </a:solidFill>
                <a:latin typeface="Calibri"/>
              </a:defRPr>
            </a:pPr>
            <a:r>
              <a:t>User / Browser</a:t>
            </a:r>
          </a:p>
        </p:txBody>
      </p:sp>
      <p:sp>
        <p:nvSpPr>
          <p:cNvPr id="6" name="Down Arrow 5"/>
          <p:cNvSpPr/>
          <p:nvPr/>
        </p:nvSpPr>
        <p:spPr>
          <a:xfrm>
            <a:off x="5852160" y="2103120"/>
            <a:ext cx="457200" cy="45720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74720" y="2651760"/>
            <a:ext cx="5212080" cy="1097280"/>
          </a:xfrm>
          <a:prstGeom prst="roundRect">
            <a:avLst>
              <a:gd name="adj" fmla="val 5000"/>
            </a:avLst>
          </a:prstGeom>
          <a:solidFill>
            <a:srgbClr val="111522"/>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2697480"/>
            <a:ext cx="5029200" cy="320040"/>
          </a:xfrm>
          <a:prstGeom prst="rect">
            <a:avLst/>
          </a:prstGeom>
          <a:noFill/>
        </p:spPr>
        <p:txBody>
          <a:bodyPr wrap="square">
            <a:spAutoFit/>
          </a:bodyPr>
          <a:lstStyle/>
          <a:p>
            <a:pPr algn="ctr">
              <a:defRPr sz="1600" b="1">
                <a:solidFill>
                  <a:srgbClr val="3B82F6"/>
                </a:solidFill>
                <a:latin typeface="Calibri"/>
              </a:defRPr>
            </a:pPr>
            <a:r>
              <a:t>Next.js 15 + React 19 Frontend</a:t>
            </a:r>
          </a:p>
        </p:txBody>
      </p:sp>
      <p:sp>
        <p:nvSpPr>
          <p:cNvPr id="9" name="TextBox 8"/>
          <p:cNvSpPr txBox="1"/>
          <p:nvPr/>
        </p:nvSpPr>
        <p:spPr>
          <a:xfrm>
            <a:off x="3566160" y="3063240"/>
            <a:ext cx="5029200" cy="640080"/>
          </a:xfrm>
          <a:prstGeom prst="rect">
            <a:avLst/>
          </a:prstGeom>
          <a:noFill/>
        </p:spPr>
        <p:txBody>
          <a:bodyPr wrap="square">
            <a:spAutoFit/>
          </a:bodyPr>
          <a:lstStyle/>
          <a:p>
            <a:pPr algn="ctr">
              <a:defRPr sz="1200" b="0">
                <a:solidFill>
                  <a:srgbClr val="94A3B8"/>
                </a:solidFill>
                <a:latin typeface="Calibri"/>
              </a:defRPr>
            </a:pPr>
            <a:r>
              <a:t>TypeScript  |  Tailwind CSS  |  Zustand  |  React Query  |  Framer Motion</a:t>
            </a:r>
          </a:p>
        </p:txBody>
      </p:sp>
      <p:sp>
        <p:nvSpPr>
          <p:cNvPr id="10" name="Down Arrow 9"/>
          <p:cNvSpPr/>
          <p:nvPr/>
        </p:nvSpPr>
        <p:spPr>
          <a:xfrm>
            <a:off x="5852160" y="3749039"/>
            <a:ext cx="457200" cy="45720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4720" y="4297680"/>
            <a:ext cx="5212080" cy="1097280"/>
          </a:xfrm>
          <a:prstGeom prst="roundRect">
            <a:avLst>
              <a:gd name="adj" fmla="val 5000"/>
            </a:avLst>
          </a:prstGeom>
          <a:solidFill>
            <a:srgbClr val="111522"/>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4343400"/>
            <a:ext cx="5029200" cy="320040"/>
          </a:xfrm>
          <a:prstGeom prst="rect">
            <a:avLst/>
          </a:prstGeom>
          <a:noFill/>
        </p:spPr>
        <p:txBody>
          <a:bodyPr wrap="square">
            <a:spAutoFit/>
          </a:bodyPr>
          <a:lstStyle/>
          <a:p>
            <a:pPr algn="ctr">
              <a:defRPr sz="1600" b="1">
                <a:solidFill>
                  <a:srgbClr val="7C3AED"/>
                </a:solidFill>
                <a:latin typeface="Calibri"/>
              </a:defRPr>
            </a:pPr>
            <a:r>
              <a:t>FastAPI Backend (Python 3.12)</a:t>
            </a:r>
          </a:p>
        </p:txBody>
      </p:sp>
      <p:sp>
        <p:nvSpPr>
          <p:cNvPr id="13" name="TextBox 12"/>
          <p:cNvSpPr txBox="1"/>
          <p:nvPr/>
        </p:nvSpPr>
        <p:spPr>
          <a:xfrm>
            <a:off x="3566160" y="4709160"/>
            <a:ext cx="5029200" cy="640080"/>
          </a:xfrm>
          <a:prstGeom prst="rect">
            <a:avLst/>
          </a:prstGeom>
          <a:noFill/>
        </p:spPr>
        <p:txBody>
          <a:bodyPr wrap="square">
            <a:spAutoFit/>
          </a:bodyPr>
          <a:lstStyle/>
          <a:p>
            <a:pPr algn="ctr">
              <a:defRPr sz="1200" b="0">
                <a:solidFill>
                  <a:srgbClr val="94A3B8"/>
                </a:solidFill>
                <a:latin typeface="Calibri"/>
              </a:defRPr>
            </a:pPr>
            <a:r>
              <a:t>JWT Auth  |  SQLAlchemy ORM  |  Pydantic  |  Workflow Tracker  |  LLM Service</a:t>
            </a:r>
          </a:p>
        </p:txBody>
      </p:sp>
      <p:sp>
        <p:nvSpPr>
          <p:cNvPr id="14" name="Rounded Rectangle 13"/>
          <p:cNvSpPr/>
          <p:nvPr/>
        </p:nvSpPr>
        <p:spPr>
          <a:xfrm>
            <a:off x="4572000" y="5760720"/>
            <a:ext cx="3017520" cy="822960"/>
          </a:xfrm>
          <a:prstGeom prst="roundRect">
            <a:avLst>
              <a:gd name="adj" fmla="val 5000"/>
            </a:avLst>
          </a:prstGeom>
          <a:solidFill>
            <a:srgbClr val="111522"/>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5806440"/>
            <a:ext cx="3017520" cy="320040"/>
          </a:xfrm>
          <a:prstGeom prst="rect">
            <a:avLst/>
          </a:prstGeom>
          <a:noFill/>
        </p:spPr>
        <p:txBody>
          <a:bodyPr wrap="square">
            <a:spAutoFit/>
          </a:bodyPr>
          <a:lstStyle/>
          <a:p>
            <a:pPr algn="ctr">
              <a:defRPr sz="1500" b="1">
                <a:solidFill>
                  <a:srgbClr val="10B981"/>
                </a:solidFill>
                <a:latin typeface="Calibri"/>
              </a:defRPr>
            </a:pPr>
            <a:r>
              <a:t>PostgreSQL</a:t>
            </a:r>
          </a:p>
        </p:txBody>
      </p:sp>
      <p:sp>
        <p:nvSpPr>
          <p:cNvPr id="16" name="TextBox 15"/>
          <p:cNvSpPr txBox="1"/>
          <p:nvPr/>
        </p:nvSpPr>
        <p:spPr>
          <a:xfrm>
            <a:off x="4572000" y="6126480"/>
            <a:ext cx="3017520" cy="365760"/>
          </a:xfrm>
          <a:prstGeom prst="rect">
            <a:avLst/>
          </a:prstGeom>
          <a:noFill/>
        </p:spPr>
        <p:txBody>
          <a:bodyPr wrap="square">
            <a:spAutoFit/>
          </a:bodyPr>
          <a:lstStyle/>
          <a:p>
            <a:pPr algn="ctr">
              <a:defRPr sz="1000" b="0">
                <a:solidFill>
                  <a:srgbClr val="94A3B8"/>
                </a:solidFill>
                <a:latin typeface="Calibri"/>
              </a:defRPr>
            </a:pPr>
            <a:r>
              <a:t>Users | Meetings | Tasks | Decisions</a:t>
            </a:r>
            <a:br/>
            <a:r>
              <a:t>Risks | Workflows | Dependencies</a:t>
            </a:r>
          </a:p>
        </p:txBody>
      </p:sp>
      <p:sp>
        <p:nvSpPr>
          <p:cNvPr id="17" name="Down Arrow 16"/>
          <p:cNvSpPr/>
          <p:nvPr/>
        </p:nvSpPr>
        <p:spPr>
          <a:xfrm>
            <a:off x="5852160" y="5394960"/>
            <a:ext cx="457200" cy="36576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 y="4297680"/>
            <a:ext cx="2560320" cy="1097280"/>
          </a:xfrm>
          <a:prstGeom prst="roundRect">
            <a:avLst>
              <a:gd name="adj" fmla="val 5000"/>
            </a:avLst>
          </a:prstGeom>
          <a:solidFill>
            <a:srgbClr val="111522"/>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343400"/>
            <a:ext cx="2560320" cy="320040"/>
          </a:xfrm>
          <a:prstGeom prst="rect">
            <a:avLst/>
          </a:prstGeom>
          <a:noFill/>
        </p:spPr>
        <p:txBody>
          <a:bodyPr wrap="square">
            <a:spAutoFit/>
          </a:bodyPr>
          <a:lstStyle/>
          <a:p>
            <a:pPr algn="ctr">
              <a:defRPr sz="1500" b="1">
                <a:solidFill>
                  <a:srgbClr val="8B5CF6"/>
                </a:solidFill>
                <a:latin typeface="Calibri"/>
              </a:defRPr>
            </a:pPr>
            <a:r>
              <a:t>Ollama / qwen3</a:t>
            </a:r>
          </a:p>
        </p:txBody>
      </p:sp>
      <p:sp>
        <p:nvSpPr>
          <p:cNvPr id="20" name="TextBox 19"/>
          <p:cNvSpPr txBox="1"/>
          <p:nvPr/>
        </p:nvSpPr>
        <p:spPr>
          <a:xfrm>
            <a:off x="457200" y="4709160"/>
            <a:ext cx="2560320" cy="548640"/>
          </a:xfrm>
          <a:prstGeom prst="rect">
            <a:avLst/>
          </a:prstGeom>
          <a:noFill/>
        </p:spPr>
        <p:txBody>
          <a:bodyPr wrap="square">
            <a:spAutoFit/>
          </a:bodyPr>
          <a:lstStyle/>
          <a:p>
            <a:pPr algn="ctr">
              <a:defRPr sz="1200" b="0">
                <a:solidFill>
                  <a:srgbClr val="94A3B8"/>
                </a:solidFill>
                <a:latin typeface="Calibri"/>
              </a:defRPr>
            </a:pPr>
            <a:r>
              <a:t>Local LLM Runtime</a:t>
            </a:r>
            <a:br/>
            <a:r>
              <a:t>Structured JSON Extraction</a:t>
            </a:r>
          </a:p>
        </p:txBody>
      </p:sp>
      <p:sp>
        <p:nvSpPr>
          <p:cNvPr id="21" name="Left Arrow 20"/>
          <p:cNvSpPr/>
          <p:nvPr/>
        </p:nvSpPr>
        <p:spPr>
          <a:xfrm>
            <a:off x="3017520" y="4663440"/>
            <a:ext cx="457200" cy="320040"/>
          </a:xfrm>
          <a:prstGeom prst="lef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0" y="4297680"/>
            <a:ext cx="2560320" cy="2286000"/>
          </a:xfrm>
          <a:prstGeom prst="roundRect">
            <a:avLst>
              <a:gd name="adj" fmla="val 5000"/>
            </a:avLst>
          </a:prstGeom>
          <a:solidFill>
            <a:srgbClr val="111522"/>
          </a:solidFill>
          <a:ln w="12700">
            <a:solidFill>
              <a:srgbClr val="2D3A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4343400"/>
            <a:ext cx="2560320" cy="320040"/>
          </a:xfrm>
          <a:prstGeom prst="rect">
            <a:avLst/>
          </a:prstGeom>
          <a:noFill/>
        </p:spPr>
        <p:txBody>
          <a:bodyPr wrap="square">
            <a:spAutoFit/>
          </a:bodyPr>
          <a:lstStyle/>
          <a:p>
            <a:pPr algn="ctr">
              <a:defRPr sz="1300" b="1">
                <a:solidFill>
                  <a:srgbClr val="94A3B8"/>
                </a:solidFill>
                <a:latin typeface="Calibri"/>
              </a:defRPr>
            </a:pPr>
            <a:r>
              <a:t>Infrastructure (Provisioned)</a:t>
            </a:r>
          </a:p>
        </p:txBody>
      </p:sp>
      <p:sp>
        <p:nvSpPr>
          <p:cNvPr id="24" name="TextBox 23"/>
          <p:cNvSpPr txBox="1"/>
          <p:nvPr/>
        </p:nvSpPr>
        <p:spPr>
          <a:xfrm>
            <a:off x="9235440" y="4754880"/>
            <a:ext cx="1097280" cy="274320"/>
          </a:xfrm>
          <a:prstGeom prst="rect">
            <a:avLst/>
          </a:prstGeom>
          <a:noFill/>
        </p:spPr>
        <p:txBody>
          <a:bodyPr wrap="square">
            <a:spAutoFit/>
          </a:bodyPr>
          <a:lstStyle/>
          <a:p>
            <a:pPr algn="l">
              <a:defRPr sz="1200" b="1">
                <a:solidFill>
                  <a:srgbClr val="F59E0B"/>
                </a:solidFill>
                <a:latin typeface="Calibri"/>
              </a:defRPr>
            </a:pPr>
            <a:r>
              <a:t>Redis</a:t>
            </a:r>
          </a:p>
        </p:txBody>
      </p:sp>
      <p:sp>
        <p:nvSpPr>
          <p:cNvPr id="25" name="TextBox 24"/>
          <p:cNvSpPr txBox="1"/>
          <p:nvPr/>
        </p:nvSpPr>
        <p:spPr>
          <a:xfrm>
            <a:off x="10149840" y="4754880"/>
            <a:ext cx="1463040" cy="274320"/>
          </a:xfrm>
          <a:prstGeom prst="rect">
            <a:avLst/>
          </a:prstGeom>
          <a:noFill/>
        </p:spPr>
        <p:txBody>
          <a:bodyPr wrap="square">
            <a:spAutoFit/>
          </a:bodyPr>
          <a:lstStyle/>
          <a:p>
            <a:pPr algn="l">
              <a:defRPr sz="1100" b="0">
                <a:solidFill>
                  <a:srgbClr val="94A3B8"/>
                </a:solidFill>
                <a:latin typeface="Calibri"/>
              </a:defRPr>
            </a:pPr>
            <a:r>
              <a:t>Celery task broker</a:t>
            </a:r>
          </a:p>
        </p:txBody>
      </p:sp>
      <p:sp>
        <p:nvSpPr>
          <p:cNvPr id="26" name="TextBox 25"/>
          <p:cNvSpPr txBox="1"/>
          <p:nvPr/>
        </p:nvSpPr>
        <p:spPr>
          <a:xfrm>
            <a:off x="9235440" y="5303520"/>
            <a:ext cx="1097280" cy="274320"/>
          </a:xfrm>
          <a:prstGeom prst="rect">
            <a:avLst/>
          </a:prstGeom>
          <a:noFill/>
        </p:spPr>
        <p:txBody>
          <a:bodyPr wrap="square">
            <a:spAutoFit/>
          </a:bodyPr>
          <a:lstStyle/>
          <a:p>
            <a:pPr algn="l">
              <a:defRPr sz="1200" b="1">
                <a:solidFill>
                  <a:srgbClr val="F59E0B"/>
                </a:solidFill>
                <a:latin typeface="Calibri"/>
              </a:defRPr>
            </a:pPr>
            <a:r>
              <a:t>Qdrant</a:t>
            </a:r>
          </a:p>
        </p:txBody>
      </p:sp>
      <p:sp>
        <p:nvSpPr>
          <p:cNvPr id="27" name="TextBox 26"/>
          <p:cNvSpPr txBox="1"/>
          <p:nvPr/>
        </p:nvSpPr>
        <p:spPr>
          <a:xfrm>
            <a:off x="10149840" y="5303520"/>
            <a:ext cx="1463040" cy="274320"/>
          </a:xfrm>
          <a:prstGeom prst="rect">
            <a:avLst/>
          </a:prstGeom>
          <a:noFill/>
        </p:spPr>
        <p:txBody>
          <a:bodyPr wrap="square">
            <a:spAutoFit/>
          </a:bodyPr>
          <a:lstStyle/>
          <a:p>
            <a:pPr algn="l">
              <a:defRPr sz="1100" b="0">
                <a:solidFill>
                  <a:srgbClr val="94A3B8"/>
                </a:solidFill>
                <a:latin typeface="Calibri"/>
              </a:defRPr>
            </a:pPr>
            <a:r>
              <a:t>Vector store (scaffolded)</a:t>
            </a:r>
          </a:p>
        </p:txBody>
      </p:sp>
      <p:sp>
        <p:nvSpPr>
          <p:cNvPr id="28" name="TextBox 27"/>
          <p:cNvSpPr txBox="1"/>
          <p:nvPr/>
        </p:nvSpPr>
        <p:spPr>
          <a:xfrm>
            <a:off x="9235440" y="5852160"/>
            <a:ext cx="1097280" cy="274320"/>
          </a:xfrm>
          <a:prstGeom prst="rect">
            <a:avLst/>
          </a:prstGeom>
          <a:noFill/>
        </p:spPr>
        <p:txBody>
          <a:bodyPr wrap="square">
            <a:spAutoFit/>
          </a:bodyPr>
          <a:lstStyle/>
          <a:p>
            <a:pPr algn="l">
              <a:defRPr sz="1200" b="1">
                <a:solidFill>
                  <a:srgbClr val="F59E0B"/>
                </a:solidFill>
                <a:latin typeface="Calibri"/>
              </a:defRPr>
            </a:pPr>
            <a:r>
              <a:t>Neo4j</a:t>
            </a:r>
          </a:p>
        </p:txBody>
      </p:sp>
      <p:sp>
        <p:nvSpPr>
          <p:cNvPr id="29" name="TextBox 28"/>
          <p:cNvSpPr txBox="1"/>
          <p:nvPr/>
        </p:nvSpPr>
        <p:spPr>
          <a:xfrm>
            <a:off x="10149840" y="5852160"/>
            <a:ext cx="1463040" cy="274320"/>
          </a:xfrm>
          <a:prstGeom prst="rect">
            <a:avLst/>
          </a:prstGeom>
          <a:noFill/>
        </p:spPr>
        <p:txBody>
          <a:bodyPr wrap="square">
            <a:spAutoFit/>
          </a:bodyPr>
          <a:lstStyle/>
          <a:p>
            <a:pPr algn="l">
              <a:defRPr sz="1100" b="0">
                <a:solidFill>
                  <a:srgbClr val="94A3B8"/>
                </a:solidFill>
                <a:latin typeface="Calibri"/>
              </a:defRPr>
            </a:pPr>
            <a:r>
              <a:t>Graph DB (scaffolded)</a:t>
            </a:r>
          </a:p>
        </p:txBody>
      </p:sp>
      <p:sp>
        <p:nvSpPr>
          <p:cNvPr id="30" name="Right Arrow 29"/>
          <p:cNvSpPr/>
          <p:nvPr/>
        </p:nvSpPr>
        <p:spPr>
          <a:xfrm>
            <a:off x="8686800" y="4663440"/>
            <a:ext cx="457200" cy="32004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Data and API Flow</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463040"/>
            <a:ext cx="5577840" cy="8229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30352" y="1600200"/>
            <a:ext cx="411480" cy="41148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1</a:t>
            </a:r>
          </a:p>
        </p:txBody>
      </p:sp>
      <p:sp>
        <p:nvSpPr>
          <p:cNvPr id="6" name="TextBox 5"/>
          <p:cNvSpPr txBox="1"/>
          <p:nvPr/>
        </p:nvSpPr>
        <p:spPr>
          <a:xfrm>
            <a:off x="1005840" y="1536192"/>
            <a:ext cx="4937760" cy="320040"/>
          </a:xfrm>
          <a:prstGeom prst="rect">
            <a:avLst/>
          </a:prstGeom>
          <a:noFill/>
        </p:spPr>
        <p:txBody>
          <a:bodyPr wrap="square">
            <a:spAutoFit/>
          </a:bodyPr>
          <a:lstStyle/>
          <a:p>
            <a:pPr algn="l">
              <a:defRPr sz="1300" b="1">
                <a:solidFill>
                  <a:srgbClr val="FFFFFF"/>
                </a:solidFill>
                <a:latin typeface="Calibri"/>
              </a:defRPr>
            </a:pPr>
            <a:r>
              <a:t>POST /api/auth/login</a:t>
            </a:r>
          </a:p>
        </p:txBody>
      </p:sp>
      <p:sp>
        <p:nvSpPr>
          <p:cNvPr id="7" name="TextBox 6"/>
          <p:cNvSpPr txBox="1"/>
          <p:nvPr/>
        </p:nvSpPr>
        <p:spPr>
          <a:xfrm>
            <a:off x="1005840" y="1856232"/>
            <a:ext cx="4937760" cy="365760"/>
          </a:xfrm>
          <a:prstGeom prst="rect">
            <a:avLst/>
          </a:prstGeom>
          <a:noFill/>
        </p:spPr>
        <p:txBody>
          <a:bodyPr wrap="square">
            <a:spAutoFit/>
          </a:bodyPr>
          <a:lstStyle/>
          <a:p>
            <a:pPr algn="l">
              <a:defRPr sz="1100" b="0">
                <a:solidFill>
                  <a:srgbClr val="94A3B8"/>
                </a:solidFill>
                <a:latin typeface="Calibri"/>
              </a:defRPr>
            </a:pPr>
            <a:r>
              <a:t>Authenticate, receive JWT token</a:t>
            </a:r>
          </a:p>
        </p:txBody>
      </p:sp>
      <p:sp>
        <p:nvSpPr>
          <p:cNvPr id="8" name="Rounded Rectangle 7"/>
          <p:cNvSpPr/>
          <p:nvPr/>
        </p:nvSpPr>
        <p:spPr>
          <a:xfrm>
            <a:off x="6217920" y="1463040"/>
            <a:ext cx="5577840" cy="8229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291072" y="1600200"/>
            <a:ext cx="411480" cy="41148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2</a:t>
            </a:r>
          </a:p>
        </p:txBody>
      </p:sp>
      <p:sp>
        <p:nvSpPr>
          <p:cNvPr id="10" name="TextBox 9"/>
          <p:cNvSpPr txBox="1"/>
          <p:nvPr/>
        </p:nvSpPr>
        <p:spPr>
          <a:xfrm>
            <a:off x="6766560" y="1536192"/>
            <a:ext cx="4937760" cy="320040"/>
          </a:xfrm>
          <a:prstGeom prst="rect">
            <a:avLst/>
          </a:prstGeom>
          <a:noFill/>
        </p:spPr>
        <p:txBody>
          <a:bodyPr wrap="square">
            <a:spAutoFit/>
          </a:bodyPr>
          <a:lstStyle/>
          <a:p>
            <a:pPr algn="l">
              <a:defRPr sz="1300" b="1">
                <a:solidFill>
                  <a:srgbClr val="FFFFFF"/>
                </a:solidFill>
                <a:latin typeface="Calibri"/>
              </a:defRPr>
            </a:pPr>
            <a:r>
              <a:t>POST /api/meetings/</a:t>
            </a:r>
          </a:p>
        </p:txBody>
      </p:sp>
      <p:sp>
        <p:nvSpPr>
          <p:cNvPr id="11" name="TextBox 10"/>
          <p:cNvSpPr txBox="1"/>
          <p:nvPr/>
        </p:nvSpPr>
        <p:spPr>
          <a:xfrm>
            <a:off x="6766560" y="1856232"/>
            <a:ext cx="4937760" cy="365760"/>
          </a:xfrm>
          <a:prstGeom prst="rect">
            <a:avLst/>
          </a:prstGeom>
          <a:noFill/>
        </p:spPr>
        <p:txBody>
          <a:bodyPr wrap="square">
            <a:spAutoFit/>
          </a:bodyPr>
          <a:lstStyle/>
          <a:p>
            <a:pPr algn="l">
              <a:defRPr sz="1100" b="0">
                <a:solidFill>
                  <a:srgbClr val="94A3B8"/>
                </a:solidFill>
                <a:latin typeface="Calibri"/>
              </a:defRPr>
            </a:pPr>
            <a:r>
              <a:t>Create meeting with title and date</a:t>
            </a:r>
          </a:p>
        </p:txBody>
      </p:sp>
      <p:sp>
        <p:nvSpPr>
          <p:cNvPr id="12" name="Rounded Rectangle 11"/>
          <p:cNvSpPr/>
          <p:nvPr/>
        </p:nvSpPr>
        <p:spPr>
          <a:xfrm>
            <a:off x="457200" y="2468880"/>
            <a:ext cx="5577840" cy="8229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30352" y="260604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3</a:t>
            </a:r>
          </a:p>
        </p:txBody>
      </p:sp>
      <p:sp>
        <p:nvSpPr>
          <p:cNvPr id="14" name="TextBox 13"/>
          <p:cNvSpPr txBox="1"/>
          <p:nvPr/>
        </p:nvSpPr>
        <p:spPr>
          <a:xfrm>
            <a:off x="1005840" y="2542032"/>
            <a:ext cx="4937760" cy="320040"/>
          </a:xfrm>
          <a:prstGeom prst="rect">
            <a:avLst/>
          </a:prstGeom>
          <a:noFill/>
        </p:spPr>
        <p:txBody>
          <a:bodyPr wrap="square">
            <a:spAutoFit/>
          </a:bodyPr>
          <a:lstStyle/>
          <a:p>
            <a:pPr algn="l">
              <a:defRPr sz="1300" b="1">
                <a:solidFill>
                  <a:srgbClr val="FFFFFF"/>
                </a:solidFill>
                <a:latin typeface="Calibri"/>
              </a:defRPr>
            </a:pPr>
            <a:r>
              <a:t>POST /api/meetings/{id}/transcript</a:t>
            </a:r>
          </a:p>
        </p:txBody>
      </p:sp>
      <p:sp>
        <p:nvSpPr>
          <p:cNvPr id="15" name="TextBox 14"/>
          <p:cNvSpPr txBox="1"/>
          <p:nvPr/>
        </p:nvSpPr>
        <p:spPr>
          <a:xfrm>
            <a:off x="1005840" y="2862072"/>
            <a:ext cx="4937760" cy="365760"/>
          </a:xfrm>
          <a:prstGeom prst="rect">
            <a:avLst/>
          </a:prstGeom>
          <a:noFill/>
        </p:spPr>
        <p:txBody>
          <a:bodyPr wrap="square">
            <a:spAutoFit/>
          </a:bodyPr>
          <a:lstStyle/>
          <a:p>
            <a:pPr algn="l">
              <a:defRPr sz="1100" b="0">
                <a:solidFill>
                  <a:srgbClr val="94A3B8"/>
                </a:solidFill>
                <a:latin typeface="Calibri"/>
              </a:defRPr>
            </a:pPr>
            <a:r>
              <a:t>Upload transcript segments as JSON body</a:t>
            </a:r>
          </a:p>
        </p:txBody>
      </p:sp>
      <p:sp>
        <p:nvSpPr>
          <p:cNvPr id="16" name="Rounded Rectangle 15"/>
          <p:cNvSpPr/>
          <p:nvPr/>
        </p:nvSpPr>
        <p:spPr>
          <a:xfrm>
            <a:off x="6217920" y="2468880"/>
            <a:ext cx="5577840" cy="8229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91072" y="2606040"/>
            <a:ext cx="411480" cy="41148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4</a:t>
            </a:r>
          </a:p>
        </p:txBody>
      </p:sp>
      <p:sp>
        <p:nvSpPr>
          <p:cNvPr id="18" name="TextBox 17"/>
          <p:cNvSpPr txBox="1"/>
          <p:nvPr/>
        </p:nvSpPr>
        <p:spPr>
          <a:xfrm>
            <a:off x="6766560" y="2542032"/>
            <a:ext cx="4937760" cy="320040"/>
          </a:xfrm>
          <a:prstGeom prst="rect">
            <a:avLst/>
          </a:prstGeom>
          <a:noFill/>
        </p:spPr>
        <p:txBody>
          <a:bodyPr wrap="square">
            <a:spAutoFit/>
          </a:bodyPr>
          <a:lstStyle/>
          <a:p>
            <a:pPr algn="l">
              <a:defRPr sz="1300" b="1">
                <a:solidFill>
                  <a:srgbClr val="FFFFFF"/>
                </a:solidFill>
                <a:latin typeface="Calibri"/>
              </a:defRPr>
            </a:pPr>
            <a:r>
              <a:t>POST /api/meetings/{id}/process</a:t>
            </a:r>
          </a:p>
        </p:txBody>
      </p:sp>
      <p:sp>
        <p:nvSpPr>
          <p:cNvPr id="19" name="TextBox 18"/>
          <p:cNvSpPr txBox="1"/>
          <p:nvPr/>
        </p:nvSpPr>
        <p:spPr>
          <a:xfrm>
            <a:off x="6766560" y="2862072"/>
            <a:ext cx="4937760" cy="365760"/>
          </a:xfrm>
          <a:prstGeom prst="rect">
            <a:avLst/>
          </a:prstGeom>
          <a:noFill/>
        </p:spPr>
        <p:txBody>
          <a:bodyPr wrap="square">
            <a:spAutoFit/>
          </a:bodyPr>
          <a:lstStyle/>
          <a:p>
            <a:pPr algn="l">
              <a:defRPr sz="1100" b="0">
                <a:solidFill>
                  <a:srgbClr val="94A3B8"/>
                </a:solidFill>
                <a:latin typeface="Calibri"/>
              </a:defRPr>
            </a:pPr>
            <a:r>
              <a:t>Trigger AI processing pipeline</a:t>
            </a:r>
          </a:p>
        </p:txBody>
      </p:sp>
      <p:sp>
        <p:nvSpPr>
          <p:cNvPr id="20" name="Rounded Rectangle 19"/>
          <p:cNvSpPr/>
          <p:nvPr/>
        </p:nvSpPr>
        <p:spPr>
          <a:xfrm>
            <a:off x="457200" y="3474720"/>
            <a:ext cx="5577840" cy="8229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30352" y="3611880"/>
            <a:ext cx="411480" cy="4114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5</a:t>
            </a:r>
          </a:p>
        </p:txBody>
      </p:sp>
      <p:sp>
        <p:nvSpPr>
          <p:cNvPr id="22" name="TextBox 21"/>
          <p:cNvSpPr txBox="1"/>
          <p:nvPr/>
        </p:nvSpPr>
        <p:spPr>
          <a:xfrm>
            <a:off x="1005840" y="3547872"/>
            <a:ext cx="4937760" cy="320040"/>
          </a:xfrm>
          <a:prstGeom prst="rect">
            <a:avLst/>
          </a:prstGeom>
          <a:noFill/>
        </p:spPr>
        <p:txBody>
          <a:bodyPr wrap="square">
            <a:spAutoFit/>
          </a:bodyPr>
          <a:lstStyle/>
          <a:p>
            <a:pPr algn="l">
              <a:defRPr sz="1300" b="1">
                <a:solidFill>
                  <a:srgbClr val="FFFFFF"/>
                </a:solidFill>
                <a:latin typeface="Calibri"/>
              </a:defRPr>
            </a:pPr>
            <a:r>
              <a:t>WorkflowState created</a:t>
            </a:r>
          </a:p>
        </p:txBody>
      </p:sp>
      <p:sp>
        <p:nvSpPr>
          <p:cNvPr id="23" name="TextBox 22"/>
          <p:cNvSpPr txBox="1"/>
          <p:nvPr/>
        </p:nvSpPr>
        <p:spPr>
          <a:xfrm>
            <a:off x="1005840" y="3867912"/>
            <a:ext cx="4937760" cy="365760"/>
          </a:xfrm>
          <a:prstGeom prst="rect">
            <a:avLst/>
          </a:prstGeom>
          <a:noFill/>
        </p:spPr>
        <p:txBody>
          <a:bodyPr wrap="square">
            <a:spAutoFit/>
          </a:bodyPr>
          <a:lstStyle/>
          <a:p>
            <a:pPr algn="l">
              <a:defRPr sz="1100" b="0">
                <a:solidFill>
                  <a:srgbClr val="94A3B8"/>
                </a:solidFill>
                <a:latin typeface="Calibri"/>
              </a:defRPr>
            </a:pPr>
            <a:r>
              <a:t>Stages: validation -&gt; health check -&gt; extraction -&gt; persistence</a:t>
            </a:r>
          </a:p>
        </p:txBody>
      </p:sp>
      <p:sp>
        <p:nvSpPr>
          <p:cNvPr id="24" name="Rounded Rectangle 23"/>
          <p:cNvSpPr/>
          <p:nvPr/>
        </p:nvSpPr>
        <p:spPr>
          <a:xfrm>
            <a:off x="6217920" y="3474720"/>
            <a:ext cx="5577840" cy="8229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291072" y="3611880"/>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6</a:t>
            </a:r>
          </a:p>
        </p:txBody>
      </p:sp>
      <p:sp>
        <p:nvSpPr>
          <p:cNvPr id="26" name="TextBox 25"/>
          <p:cNvSpPr txBox="1"/>
          <p:nvPr/>
        </p:nvSpPr>
        <p:spPr>
          <a:xfrm>
            <a:off x="6766560" y="3547872"/>
            <a:ext cx="4937760" cy="320040"/>
          </a:xfrm>
          <a:prstGeom prst="rect">
            <a:avLst/>
          </a:prstGeom>
          <a:noFill/>
        </p:spPr>
        <p:txBody>
          <a:bodyPr wrap="square">
            <a:spAutoFit/>
          </a:bodyPr>
          <a:lstStyle/>
          <a:p>
            <a:pPr algn="l">
              <a:defRPr sz="1300" b="1">
                <a:solidFill>
                  <a:srgbClr val="FFFFFF"/>
                </a:solidFill>
                <a:latin typeface="Calibri"/>
              </a:defRPr>
            </a:pPr>
            <a:r>
              <a:t>Ollama /api/chat</a:t>
            </a:r>
          </a:p>
        </p:txBody>
      </p:sp>
      <p:sp>
        <p:nvSpPr>
          <p:cNvPr id="27" name="TextBox 26"/>
          <p:cNvSpPr txBox="1"/>
          <p:nvPr/>
        </p:nvSpPr>
        <p:spPr>
          <a:xfrm>
            <a:off x="6766560" y="3867912"/>
            <a:ext cx="4937760" cy="365760"/>
          </a:xfrm>
          <a:prstGeom prst="rect">
            <a:avLst/>
          </a:prstGeom>
          <a:noFill/>
        </p:spPr>
        <p:txBody>
          <a:bodyPr wrap="square">
            <a:spAutoFit/>
          </a:bodyPr>
          <a:lstStyle/>
          <a:p>
            <a:pPr algn="l">
              <a:defRPr sz="1100" b="0">
                <a:solidFill>
                  <a:srgbClr val="94A3B8"/>
                </a:solidFill>
                <a:latin typeface="Calibri"/>
              </a:defRPr>
            </a:pPr>
            <a:r>
              <a:t>Structured JSON extraction with dereferenced schema</a:t>
            </a:r>
          </a:p>
        </p:txBody>
      </p:sp>
      <p:sp>
        <p:nvSpPr>
          <p:cNvPr id="28" name="Rounded Rectangle 27"/>
          <p:cNvSpPr/>
          <p:nvPr/>
        </p:nvSpPr>
        <p:spPr>
          <a:xfrm>
            <a:off x="457200" y="4480560"/>
            <a:ext cx="5577840" cy="8229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30352" y="4617720"/>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7</a:t>
            </a:r>
          </a:p>
        </p:txBody>
      </p:sp>
      <p:sp>
        <p:nvSpPr>
          <p:cNvPr id="30" name="TextBox 29"/>
          <p:cNvSpPr txBox="1"/>
          <p:nvPr/>
        </p:nvSpPr>
        <p:spPr>
          <a:xfrm>
            <a:off x="1005840" y="4553712"/>
            <a:ext cx="4937760" cy="320040"/>
          </a:xfrm>
          <a:prstGeom prst="rect">
            <a:avLst/>
          </a:prstGeom>
          <a:noFill/>
        </p:spPr>
        <p:txBody>
          <a:bodyPr wrap="square">
            <a:spAutoFit/>
          </a:bodyPr>
          <a:lstStyle/>
          <a:p>
            <a:pPr algn="l">
              <a:defRPr sz="1300" b="1">
                <a:solidFill>
                  <a:srgbClr val="FFFFFF"/>
                </a:solidFill>
                <a:latin typeface="Calibri"/>
              </a:defRPr>
            </a:pPr>
            <a:r>
              <a:t>Database persistence</a:t>
            </a:r>
          </a:p>
        </p:txBody>
      </p:sp>
      <p:sp>
        <p:nvSpPr>
          <p:cNvPr id="31" name="TextBox 30"/>
          <p:cNvSpPr txBox="1"/>
          <p:nvPr/>
        </p:nvSpPr>
        <p:spPr>
          <a:xfrm>
            <a:off x="1005840" y="4873752"/>
            <a:ext cx="4937760" cy="365760"/>
          </a:xfrm>
          <a:prstGeom prst="rect">
            <a:avLst/>
          </a:prstGeom>
          <a:noFill/>
        </p:spPr>
        <p:txBody>
          <a:bodyPr wrap="square">
            <a:spAutoFit/>
          </a:bodyPr>
          <a:lstStyle/>
          <a:p>
            <a:pPr algn="l">
              <a:defRPr sz="1100" b="0">
                <a:solidFill>
                  <a:srgbClr val="94A3B8"/>
                </a:solidFill>
                <a:latin typeface="Calibri"/>
              </a:defRPr>
            </a:pPr>
            <a:r>
              <a:t>Participants, actions, decisions, risks, deps, clarifications</a:t>
            </a:r>
          </a:p>
        </p:txBody>
      </p:sp>
      <p:sp>
        <p:nvSpPr>
          <p:cNvPr id="32" name="Rounded Rectangle 31"/>
          <p:cNvSpPr/>
          <p:nvPr/>
        </p:nvSpPr>
        <p:spPr>
          <a:xfrm>
            <a:off x="6217920" y="4480560"/>
            <a:ext cx="5577840" cy="8229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91072" y="4617720"/>
            <a:ext cx="411480" cy="4114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8</a:t>
            </a:r>
          </a:p>
        </p:txBody>
      </p:sp>
      <p:sp>
        <p:nvSpPr>
          <p:cNvPr id="34" name="TextBox 33"/>
          <p:cNvSpPr txBox="1"/>
          <p:nvPr/>
        </p:nvSpPr>
        <p:spPr>
          <a:xfrm>
            <a:off x="6766560" y="4553712"/>
            <a:ext cx="4937760" cy="320040"/>
          </a:xfrm>
          <a:prstGeom prst="rect">
            <a:avLst/>
          </a:prstGeom>
          <a:noFill/>
        </p:spPr>
        <p:txBody>
          <a:bodyPr wrap="square">
            <a:spAutoFit/>
          </a:bodyPr>
          <a:lstStyle/>
          <a:p>
            <a:pPr algn="l">
              <a:defRPr sz="1300" b="1">
                <a:solidFill>
                  <a:srgbClr val="FFFFFF"/>
                </a:solidFill>
                <a:latin typeface="Calibri"/>
              </a:defRPr>
            </a:pPr>
            <a:r>
              <a:t>Status: awaiting_review (95%)</a:t>
            </a:r>
          </a:p>
        </p:txBody>
      </p:sp>
      <p:sp>
        <p:nvSpPr>
          <p:cNvPr id="35" name="TextBox 34"/>
          <p:cNvSpPr txBox="1"/>
          <p:nvPr/>
        </p:nvSpPr>
        <p:spPr>
          <a:xfrm>
            <a:off x="6766560" y="4873752"/>
            <a:ext cx="4937760" cy="365760"/>
          </a:xfrm>
          <a:prstGeom prst="rect">
            <a:avLst/>
          </a:prstGeom>
          <a:noFill/>
        </p:spPr>
        <p:txBody>
          <a:bodyPr wrap="square">
            <a:spAutoFit/>
          </a:bodyPr>
          <a:lstStyle/>
          <a:p>
            <a:pPr algn="l">
              <a:defRPr sz="1100" b="0">
                <a:solidFill>
                  <a:srgbClr val="94A3B8"/>
                </a:solidFill>
                <a:latin typeface="Calibri"/>
              </a:defRPr>
            </a:pPr>
            <a:r>
              <a:t>Frontend polls GET /api/meetings/{id} for updated state</a:t>
            </a:r>
          </a:p>
        </p:txBody>
      </p:sp>
      <p:sp>
        <p:nvSpPr>
          <p:cNvPr id="36" name="Rounded Rectangle 35"/>
          <p:cNvSpPr/>
          <p:nvPr/>
        </p:nvSpPr>
        <p:spPr>
          <a:xfrm>
            <a:off x="457200" y="5486400"/>
            <a:ext cx="5577840" cy="8229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0352" y="5623560"/>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9</a:t>
            </a:r>
          </a:p>
        </p:txBody>
      </p:sp>
      <p:sp>
        <p:nvSpPr>
          <p:cNvPr id="38" name="TextBox 37"/>
          <p:cNvSpPr txBox="1"/>
          <p:nvPr/>
        </p:nvSpPr>
        <p:spPr>
          <a:xfrm>
            <a:off x="1005840" y="5559552"/>
            <a:ext cx="4937760" cy="320040"/>
          </a:xfrm>
          <a:prstGeom prst="rect">
            <a:avLst/>
          </a:prstGeom>
          <a:noFill/>
        </p:spPr>
        <p:txBody>
          <a:bodyPr wrap="square">
            <a:spAutoFit/>
          </a:bodyPr>
          <a:lstStyle/>
          <a:p>
            <a:pPr algn="l">
              <a:defRPr sz="1300" b="1">
                <a:solidFill>
                  <a:srgbClr val="FFFFFF"/>
                </a:solidFill>
                <a:latin typeface="Calibri"/>
              </a:defRPr>
            </a:pPr>
            <a:r>
              <a:t>PUT /api/meetings/{id}</a:t>
            </a:r>
          </a:p>
        </p:txBody>
      </p:sp>
      <p:sp>
        <p:nvSpPr>
          <p:cNvPr id="39" name="TextBox 38"/>
          <p:cNvSpPr txBox="1"/>
          <p:nvPr/>
        </p:nvSpPr>
        <p:spPr>
          <a:xfrm>
            <a:off x="1005840" y="5879592"/>
            <a:ext cx="4937760" cy="365760"/>
          </a:xfrm>
          <a:prstGeom prst="rect">
            <a:avLst/>
          </a:prstGeom>
          <a:noFill/>
        </p:spPr>
        <p:txBody>
          <a:bodyPr wrap="square">
            <a:spAutoFit/>
          </a:bodyPr>
          <a:lstStyle/>
          <a:p>
            <a:pPr algn="l">
              <a:defRPr sz="1100" b="0">
                <a:solidFill>
                  <a:srgbClr val="94A3B8"/>
                </a:solidFill>
                <a:latin typeface="Calibri"/>
              </a:defRPr>
            </a:pPr>
            <a:r>
              <a:t>{"status": "completed"} to approve, "scheduled" to reject</a:t>
            </a:r>
          </a:p>
        </p:txBody>
      </p:sp>
      <p:sp>
        <p:nvSpPr>
          <p:cNvPr id="40" name="Rounded Rectangle 39"/>
          <p:cNvSpPr/>
          <p:nvPr/>
        </p:nvSpPr>
        <p:spPr>
          <a:xfrm>
            <a:off x="6217920" y="5486400"/>
            <a:ext cx="5577840" cy="82296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291072" y="5623560"/>
            <a:ext cx="411480" cy="41148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10</a:t>
            </a:r>
          </a:p>
        </p:txBody>
      </p:sp>
      <p:sp>
        <p:nvSpPr>
          <p:cNvPr id="42" name="TextBox 41"/>
          <p:cNvSpPr txBox="1"/>
          <p:nvPr/>
        </p:nvSpPr>
        <p:spPr>
          <a:xfrm>
            <a:off x="6766560" y="5559552"/>
            <a:ext cx="4937760" cy="320040"/>
          </a:xfrm>
          <a:prstGeom prst="rect">
            <a:avLst/>
          </a:prstGeom>
          <a:noFill/>
        </p:spPr>
        <p:txBody>
          <a:bodyPr wrap="square">
            <a:spAutoFit/>
          </a:bodyPr>
          <a:lstStyle/>
          <a:p>
            <a:pPr algn="l">
              <a:defRPr sz="1300" b="1">
                <a:solidFill>
                  <a:srgbClr val="FFFFFF"/>
                </a:solidFill>
                <a:latin typeface="Calibri"/>
              </a:defRPr>
            </a:pPr>
            <a:r>
              <a:t>GET /api/analytics/overview</a:t>
            </a:r>
          </a:p>
        </p:txBody>
      </p:sp>
      <p:sp>
        <p:nvSpPr>
          <p:cNvPr id="43" name="TextBox 42"/>
          <p:cNvSpPr txBox="1"/>
          <p:nvPr/>
        </p:nvSpPr>
        <p:spPr>
          <a:xfrm>
            <a:off x="6766560" y="5879592"/>
            <a:ext cx="4937760" cy="365760"/>
          </a:xfrm>
          <a:prstGeom prst="rect">
            <a:avLst/>
          </a:prstGeom>
          <a:noFill/>
        </p:spPr>
        <p:txBody>
          <a:bodyPr wrap="square">
            <a:spAutoFit/>
          </a:bodyPr>
          <a:lstStyle/>
          <a:p>
            <a:pPr algn="l">
              <a:defRPr sz="1100" b="0">
                <a:solidFill>
                  <a:srgbClr val="94A3B8"/>
                </a:solidFill>
                <a:latin typeface="Calibri"/>
              </a:defRPr>
            </a:pPr>
            <a:r>
              <a:t>User-scoped metrics with period filter (week/month/quarter)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Analytics, History and Search</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463040"/>
            <a:ext cx="3566160" cy="50292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63040"/>
            <a:ext cx="356616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00200"/>
            <a:ext cx="3291840" cy="365760"/>
          </a:xfrm>
          <a:prstGeom prst="rect">
            <a:avLst/>
          </a:prstGeom>
          <a:noFill/>
        </p:spPr>
        <p:txBody>
          <a:bodyPr wrap="square">
            <a:spAutoFit/>
          </a:bodyPr>
          <a:lstStyle/>
          <a:p>
            <a:pPr algn="l">
              <a:defRPr sz="1800" b="1">
                <a:solidFill>
                  <a:srgbClr val="3B82F6"/>
                </a:solidFill>
                <a:latin typeface="Calibri"/>
              </a:defRPr>
            </a:pPr>
            <a:r>
              <a:t>Analytics Dashboard</a:t>
            </a:r>
          </a:p>
        </p:txBody>
      </p:sp>
      <p:sp>
        <p:nvSpPr>
          <p:cNvPr id="7" name="Oval 6"/>
          <p:cNvSpPr/>
          <p:nvPr/>
        </p:nvSpPr>
        <p:spPr>
          <a:xfrm>
            <a:off x="640080" y="2057400"/>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93392"/>
            <a:ext cx="3017520" cy="320040"/>
          </a:xfrm>
          <a:prstGeom prst="rect">
            <a:avLst/>
          </a:prstGeom>
          <a:noFill/>
        </p:spPr>
        <p:txBody>
          <a:bodyPr wrap="square">
            <a:spAutoFit/>
          </a:bodyPr>
          <a:lstStyle/>
          <a:p>
            <a:pPr algn="l">
              <a:defRPr sz="1200" b="0">
                <a:solidFill>
                  <a:srgbClr val="CBD5E1"/>
                </a:solidFill>
                <a:latin typeface="Calibri"/>
              </a:defRPr>
            </a:pPr>
            <a:r>
              <a:t>Period filters: Week | Month | Quarter</a:t>
            </a:r>
          </a:p>
        </p:txBody>
      </p:sp>
      <p:sp>
        <p:nvSpPr>
          <p:cNvPr id="9" name="Oval 8"/>
          <p:cNvSpPr/>
          <p:nvPr/>
        </p:nvSpPr>
        <p:spPr>
          <a:xfrm>
            <a:off x="640080" y="2496312"/>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432304"/>
            <a:ext cx="3017520" cy="320040"/>
          </a:xfrm>
          <a:prstGeom prst="rect">
            <a:avLst/>
          </a:prstGeom>
          <a:noFill/>
        </p:spPr>
        <p:txBody>
          <a:bodyPr wrap="square">
            <a:spAutoFit/>
          </a:bodyPr>
          <a:lstStyle/>
          <a:p>
            <a:pPr algn="l">
              <a:defRPr sz="1200" b="0">
                <a:solidFill>
                  <a:srgbClr val="CBD5E1"/>
                </a:solidFill>
                <a:latin typeface="Calibri"/>
              </a:defRPr>
            </a:pPr>
            <a:r>
              <a:t>User-scoped meeting metrics</a:t>
            </a:r>
          </a:p>
        </p:txBody>
      </p:sp>
      <p:sp>
        <p:nvSpPr>
          <p:cNvPr id="11" name="Oval 10"/>
          <p:cNvSpPr/>
          <p:nvPr/>
        </p:nvSpPr>
        <p:spPr>
          <a:xfrm>
            <a:off x="640080" y="2935224"/>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871216"/>
            <a:ext cx="3017520" cy="320040"/>
          </a:xfrm>
          <a:prstGeom prst="rect">
            <a:avLst/>
          </a:prstGeom>
          <a:noFill/>
        </p:spPr>
        <p:txBody>
          <a:bodyPr wrap="square">
            <a:spAutoFit/>
          </a:bodyPr>
          <a:lstStyle/>
          <a:p>
            <a:pPr algn="l">
              <a:defRPr sz="1200" b="0">
                <a:solidFill>
                  <a:srgbClr val="CBD5E1"/>
                </a:solidFill>
                <a:latin typeface="Calibri"/>
              </a:defRPr>
            </a:pPr>
            <a:r>
              <a:t>Total meetings, tasks, action items</a:t>
            </a:r>
          </a:p>
        </p:txBody>
      </p:sp>
      <p:sp>
        <p:nvSpPr>
          <p:cNvPr id="13" name="Oval 12"/>
          <p:cNvSpPr/>
          <p:nvPr/>
        </p:nvSpPr>
        <p:spPr>
          <a:xfrm>
            <a:off x="640080" y="3374136"/>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10128"/>
            <a:ext cx="3017520" cy="320040"/>
          </a:xfrm>
          <a:prstGeom prst="rect">
            <a:avLst/>
          </a:prstGeom>
          <a:noFill/>
        </p:spPr>
        <p:txBody>
          <a:bodyPr wrap="square">
            <a:spAutoFit/>
          </a:bodyPr>
          <a:lstStyle/>
          <a:p>
            <a:pPr algn="l">
              <a:defRPr sz="1200" b="0">
                <a:solidFill>
                  <a:srgbClr val="CBD5E1"/>
                </a:solidFill>
                <a:latin typeface="Calibri"/>
              </a:defRPr>
            </a:pPr>
            <a:r>
              <a:t>Completion rates and decisions count</a:t>
            </a:r>
          </a:p>
        </p:txBody>
      </p:sp>
      <p:sp>
        <p:nvSpPr>
          <p:cNvPr id="15" name="Oval 14"/>
          <p:cNvSpPr/>
          <p:nvPr/>
        </p:nvSpPr>
        <p:spPr>
          <a:xfrm>
            <a:off x="640080" y="3813048"/>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49040"/>
            <a:ext cx="3017520" cy="320040"/>
          </a:xfrm>
          <a:prstGeom prst="rect">
            <a:avLst/>
          </a:prstGeom>
          <a:noFill/>
        </p:spPr>
        <p:txBody>
          <a:bodyPr wrap="square">
            <a:spAutoFit/>
          </a:bodyPr>
          <a:lstStyle/>
          <a:p>
            <a:pPr algn="l">
              <a:defRPr sz="1200" b="0">
                <a:solidFill>
                  <a:srgbClr val="CBD5E1"/>
                </a:solidFill>
                <a:latin typeface="Calibri"/>
              </a:defRPr>
            </a:pPr>
            <a:r>
              <a:t>Overdue items and critical risks</a:t>
            </a:r>
          </a:p>
        </p:txBody>
      </p:sp>
      <p:sp>
        <p:nvSpPr>
          <p:cNvPr id="17" name="Oval 16"/>
          <p:cNvSpPr/>
          <p:nvPr/>
        </p:nvSpPr>
        <p:spPr>
          <a:xfrm>
            <a:off x="640080" y="4251960"/>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187952"/>
            <a:ext cx="3017520" cy="320040"/>
          </a:xfrm>
          <a:prstGeom prst="rect">
            <a:avLst/>
          </a:prstGeom>
          <a:noFill/>
        </p:spPr>
        <p:txBody>
          <a:bodyPr wrap="square">
            <a:spAutoFit/>
          </a:bodyPr>
          <a:lstStyle/>
          <a:p>
            <a:pPr algn="l">
              <a:defRPr sz="1200" b="0">
                <a:solidFill>
                  <a:srgbClr val="CBD5E1"/>
                </a:solidFill>
                <a:latin typeface="Calibri"/>
              </a:defRPr>
            </a:pPr>
            <a:r>
              <a:t>Average meeting duration</a:t>
            </a:r>
          </a:p>
        </p:txBody>
      </p:sp>
      <p:sp>
        <p:nvSpPr>
          <p:cNvPr id="19" name="Oval 18"/>
          <p:cNvSpPr/>
          <p:nvPr/>
        </p:nvSpPr>
        <p:spPr>
          <a:xfrm>
            <a:off x="640080" y="4690872"/>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26864"/>
            <a:ext cx="3017520" cy="320040"/>
          </a:xfrm>
          <a:prstGeom prst="rect">
            <a:avLst/>
          </a:prstGeom>
          <a:noFill/>
        </p:spPr>
        <p:txBody>
          <a:bodyPr wrap="square">
            <a:spAutoFit/>
          </a:bodyPr>
          <a:lstStyle/>
          <a:p>
            <a:pPr algn="l">
              <a:defRPr sz="1200" b="0">
                <a:solidFill>
                  <a:srgbClr val="CBD5E1"/>
                </a:solidFill>
                <a:latin typeface="Calibri"/>
              </a:defRPr>
            </a:pPr>
            <a:r>
              <a:t>Meeting trend data over time</a:t>
            </a:r>
          </a:p>
        </p:txBody>
      </p:sp>
      <p:sp>
        <p:nvSpPr>
          <p:cNvPr id="21" name="Oval 20"/>
          <p:cNvSpPr/>
          <p:nvPr/>
        </p:nvSpPr>
        <p:spPr>
          <a:xfrm>
            <a:off x="640080" y="5129784"/>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065776"/>
            <a:ext cx="3017520" cy="320040"/>
          </a:xfrm>
          <a:prstGeom prst="rect">
            <a:avLst/>
          </a:prstGeom>
          <a:noFill/>
        </p:spPr>
        <p:txBody>
          <a:bodyPr wrap="square">
            <a:spAutoFit/>
          </a:bodyPr>
          <a:lstStyle/>
          <a:p>
            <a:pPr algn="l">
              <a:defRPr sz="1200" b="0">
                <a:solidFill>
                  <a:srgbClr val="CBD5E1"/>
                </a:solidFill>
                <a:latin typeface="Calibri"/>
              </a:defRPr>
            </a:pPr>
            <a:r>
              <a:t>Team performance scores</a:t>
            </a:r>
          </a:p>
        </p:txBody>
      </p:sp>
      <p:sp>
        <p:nvSpPr>
          <p:cNvPr id="23" name="Rounded Rectangle 22"/>
          <p:cNvSpPr/>
          <p:nvPr/>
        </p:nvSpPr>
        <p:spPr>
          <a:xfrm>
            <a:off x="4297680" y="1463040"/>
            <a:ext cx="3566160" cy="50292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1463040"/>
            <a:ext cx="356616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1600200"/>
            <a:ext cx="3291840" cy="365760"/>
          </a:xfrm>
          <a:prstGeom prst="rect">
            <a:avLst/>
          </a:prstGeom>
          <a:noFill/>
        </p:spPr>
        <p:txBody>
          <a:bodyPr wrap="square">
            <a:spAutoFit/>
          </a:bodyPr>
          <a:lstStyle/>
          <a:p>
            <a:pPr algn="l">
              <a:defRPr sz="1800" b="1">
                <a:solidFill>
                  <a:srgbClr val="7C3AED"/>
                </a:solidFill>
                <a:latin typeface="Calibri"/>
              </a:defRPr>
            </a:pPr>
            <a:r>
              <a:t>Meeting History</a:t>
            </a:r>
          </a:p>
        </p:txBody>
      </p:sp>
      <p:sp>
        <p:nvSpPr>
          <p:cNvPr id="26" name="Oval 25"/>
          <p:cNvSpPr/>
          <p:nvPr/>
        </p:nvSpPr>
        <p:spPr>
          <a:xfrm>
            <a:off x="4480560" y="2057400"/>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1993392"/>
            <a:ext cx="3017520" cy="320040"/>
          </a:xfrm>
          <a:prstGeom prst="rect">
            <a:avLst/>
          </a:prstGeom>
          <a:noFill/>
        </p:spPr>
        <p:txBody>
          <a:bodyPr wrap="square">
            <a:spAutoFit/>
          </a:bodyPr>
          <a:lstStyle/>
          <a:p>
            <a:pPr algn="l">
              <a:defRPr sz="1200" b="0">
                <a:solidFill>
                  <a:srgbClr val="CBD5E1"/>
                </a:solidFill>
                <a:latin typeface="Calibri"/>
              </a:defRPr>
            </a:pPr>
            <a:r>
              <a:t>Processed meeting records</a:t>
            </a:r>
          </a:p>
        </p:txBody>
      </p:sp>
      <p:sp>
        <p:nvSpPr>
          <p:cNvPr id="28" name="Oval 27"/>
          <p:cNvSpPr/>
          <p:nvPr/>
        </p:nvSpPr>
        <p:spPr>
          <a:xfrm>
            <a:off x="4480560" y="2496312"/>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3440" y="2432304"/>
            <a:ext cx="3017520" cy="320040"/>
          </a:xfrm>
          <a:prstGeom prst="rect">
            <a:avLst/>
          </a:prstGeom>
          <a:noFill/>
        </p:spPr>
        <p:txBody>
          <a:bodyPr wrap="square">
            <a:spAutoFit/>
          </a:bodyPr>
          <a:lstStyle/>
          <a:p>
            <a:pPr algn="l">
              <a:defRPr sz="1200" b="0">
                <a:solidFill>
                  <a:srgbClr val="CBD5E1"/>
                </a:solidFill>
                <a:latin typeface="Calibri"/>
              </a:defRPr>
            </a:pPr>
            <a:r>
              <a:t>Status tracking per meeting</a:t>
            </a:r>
          </a:p>
        </p:txBody>
      </p:sp>
      <p:sp>
        <p:nvSpPr>
          <p:cNvPr id="30" name="Oval 29"/>
          <p:cNvSpPr/>
          <p:nvPr/>
        </p:nvSpPr>
        <p:spPr>
          <a:xfrm>
            <a:off x="4480560" y="2935224"/>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3440" y="2871216"/>
            <a:ext cx="3017520" cy="320040"/>
          </a:xfrm>
          <a:prstGeom prst="rect">
            <a:avLst/>
          </a:prstGeom>
          <a:noFill/>
        </p:spPr>
        <p:txBody>
          <a:bodyPr wrap="square">
            <a:spAutoFit/>
          </a:bodyPr>
          <a:lstStyle/>
          <a:p>
            <a:pPr algn="l">
              <a:defRPr sz="1200" b="0">
                <a:solidFill>
                  <a:srgbClr val="CBD5E1"/>
                </a:solidFill>
                <a:latin typeface="Calibri"/>
              </a:defRPr>
            </a:pPr>
            <a:r>
              <a:t>Participant lists</a:t>
            </a:r>
          </a:p>
        </p:txBody>
      </p:sp>
      <p:sp>
        <p:nvSpPr>
          <p:cNvPr id="32" name="Oval 31"/>
          <p:cNvSpPr/>
          <p:nvPr/>
        </p:nvSpPr>
        <p:spPr>
          <a:xfrm>
            <a:off x="4480560" y="3374136"/>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3440" y="3310128"/>
            <a:ext cx="3017520" cy="320040"/>
          </a:xfrm>
          <a:prstGeom prst="rect">
            <a:avLst/>
          </a:prstGeom>
          <a:noFill/>
        </p:spPr>
        <p:txBody>
          <a:bodyPr wrap="square">
            <a:spAutoFit/>
          </a:bodyPr>
          <a:lstStyle/>
          <a:p>
            <a:pPr algn="l">
              <a:defRPr sz="1200" b="0">
                <a:solidFill>
                  <a:srgbClr val="CBD5E1"/>
                </a:solidFill>
                <a:latin typeface="Calibri"/>
              </a:defRPr>
            </a:pPr>
            <a:r>
              <a:t>Decision and action item counts</a:t>
            </a:r>
          </a:p>
        </p:txBody>
      </p:sp>
      <p:sp>
        <p:nvSpPr>
          <p:cNvPr id="34" name="Oval 33"/>
          <p:cNvSpPr/>
          <p:nvPr/>
        </p:nvSpPr>
        <p:spPr>
          <a:xfrm>
            <a:off x="4480560" y="3813048"/>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0" y="3749040"/>
            <a:ext cx="3017520" cy="320040"/>
          </a:xfrm>
          <a:prstGeom prst="rect">
            <a:avLst/>
          </a:prstGeom>
          <a:noFill/>
        </p:spPr>
        <p:txBody>
          <a:bodyPr wrap="square">
            <a:spAutoFit/>
          </a:bodyPr>
          <a:lstStyle/>
          <a:p>
            <a:pPr algn="l">
              <a:defRPr sz="1200" b="0">
                <a:solidFill>
                  <a:srgbClr val="CBD5E1"/>
                </a:solidFill>
                <a:latin typeface="Calibri"/>
              </a:defRPr>
            </a:pPr>
            <a:r>
              <a:t>Risk and dependency counts</a:t>
            </a:r>
          </a:p>
        </p:txBody>
      </p:sp>
      <p:sp>
        <p:nvSpPr>
          <p:cNvPr id="36" name="Oval 35"/>
          <p:cNvSpPr/>
          <p:nvPr/>
        </p:nvSpPr>
        <p:spPr>
          <a:xfrm>
            <a:off x="4480560" y="4251960"/>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3440" y="4187952"/>
            <a:ext cx="3017520" cy="320040"/>
          </a:xfrm>
          <a:prstGeom prst="rect">
            <a:avLst/>
          </a:prstGeom>
          <a:noFill/>
        </p:spPr>
        <p:txBody>
          <a:bodyPr wrap="square">
            <a:spAutoFit/>
          </a:bodyPr>
          <a:lstStyle/>
          <a:p>
            <a:pPr algn="l">
              <a:defRPr sz="1200" b="0">
                <a:solidFill>
                  <a:srgbClr val="CBD5E1"/>
                </a:solidFill>
                <a:latin typeface="Calibri"/>
              </a:defRPr>
            </a:pPr>
            <a:r>
              <a:t>Confidence scores</a:t>
            </a:r>
          </a:p>
        </p:txBody>
      </p:sp>
      <p:sp>
        <p:nvSpPr>
          <p:cNvPr id="38" name="Oval 37"/>
          <p:cNvSpPr/>
          <p:nvPr/>
        </p:nvSpPr>
        <p:spPr>
          <a:xfrm>
            <a:off x="4480560" y="4690872"/>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4626864"/>
            <a:ext cx="3017520" cy="320040"/>
          </a:xfrm>
          <a:prstGeom prst="rect">
            <a:avLst/>
          </a:prstGeom>
          <a:noFill/>
        </p:spPr>
        <p:txBody>
          <a:bodyPr wrap="square">
            <a:spAutoFit/>
          </a:bodyPr>
          <a:lstStyle/>
          <a:p>
            <a:pPr algn="l">
              <a:defRPr sz="1200" b="0">
                <a:solidFill>
                  <a:srgbClr val="CBD5E1"/>
                </a:solidFill>
                <a:latin typeface="Calibri"/>
              </a:defRPr>
            </a:pPr>
            <a:r>
              <a:t>Approval/rejection outcomes</a:t>
            </a:r>
          </a:p>
        </p:txBody>
      </p:sp>
      <p:sp>
        <p:nvSpPr>
          <p:cNvPr id="40" name="Oval 39"/>
          <p:cNvSpPr/>
          <p:nvPr/>
        </p:nvSpPr>
        <p:spPr>
          <a:xfrm>
            <a:off x="4480560" y="5129784"/>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63440" y="5065776"/>
            <a:ext cx="3017520" cy="320040"/>
          </a:xfrm>
          <a:prstGeom prst="rect">
            <a:avLst/>
          </a:prstGeom>
          <a:noFill/>
        </p:spPr>
        <p:txBody>
          <a:bodyPr wrap="square">
            <a:spAutoFit/>
          </a:bodyPr>
          <a:lstStyle/>
          <a:p>
            <a:pPr algn="l">
              <a:defRPr sz="1200" b="0">
                <a:solidFill>
                  <a:srgbClr val="CBD5E1"/>
                </a:solidFill>
                <a:latin typeface="Calibri"/>
              </a:defRPr>
            </a:pPr>
            <a:r>
              <a:t>Workflow state visibility</a:t>
            </a:r>
          </a:p>
        </p:txBody>
      </p:sp>
      <p:sp>
        <p:nvSpPr>
          <p:cNvPr id="42" name="Rounded Rectangle 41"/>
          <p:cNvSpPr/>
          <p:nvPr/>
        </p:nvSpPr>
        <p:spPr>
          <a:xfrm>
            <a:off x="8138160" y="1463040"/>
            <a:ext cx="3566160" cy="50292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138160" y="1463040"/>
            <a:ext cx="356616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75320" y="1600200"/>
            <a:ext cx="3291840" cy="365760"/>
          </a:xfrm>
          <a:prstGeom prst="rect">
            <a:avLst/>
          </a:prstGeom>
          <a:noFill/>
        </p:spPr>
        <p:txBody>
          <a:bodyPr wrap="square">
            <a:spAutoFit/>
          </a:bodyPr>
          <a:lstStyle/>
          <a:p>
            <a:pPr algn="l">
              <a:defRPr sz="1800" b="1">
                <a:solidFill>
                  <a:srgbClr val="10B981"/>
                </a:solidFill>
                <a:latin typeface="Calibri"/>
              </a:defRPr>
            </a:pPr>
            <a:r>
              <a:t>Search</a:t>
            </a:r>
          </a:p>
        </p:txBody>
      </p:sp>
      <p:sp>
        <p:nvSpPr>
          <p:cNvPr id="45" name="Oval 44"/>
          <p:cNvSpPr/>
          <p:nvPr/>
        </p:nvSpPr>
        <p:spPr>
          <a:xfrm>
            <a:off x="8321040" y="2057400"/>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03920" y="1993392"/>
            <a:ext cx="3017520" cy="320040"/>
          </a:xfrm>
          <a:prstGeom prst="rect">
            <a:avLst/>
          </a:prstGeom>
          <a:noFill/>
        </p:spPr>
        <p:txBody>
          <a:bodyPr wrap="square">
            <a:spAutoFit/>
          </a:bodyPr>
          <a:lstStyle/>
          <a:p>
            <a:pPr algn="l">
              <a:defRPr sz="1200" b="0">
                <a:solidFill>
                  <a:srgbClr val="CBD5E1"/>
                </a:solidFill>
                <a:latin typeface="Calibri"/>
              </a:defRPr>
            </a:pPr>
            <a:r>
              <a:t>Full-text search across entities</a:t>
            </a:r>
          </a:p>
        </p:txBody>
      </p:sp>
      <p:sp>
        <p:nvSpPr>
          <p:cNvPr id="47" name="Oval 46"/>
          <p:cNvSpPr/>
          <p:nvPr/>
        </p:nvSpPr>
        <p:spPr>
          <a:xfrm>
            <a:off x="8321040" y="2496312"/>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03920" y="2432304"/>
            <a:ext cx="3017520" cy="320040"/>
          </a:xfrm>
          <a:prstGeom prst="rect">
            <a:avLst/>
          </a:prstGeom>
          <a:noFill/>
        </p:spPr>
        <p:txBody>
          <a:bodyPr wrap="square">
            <a:spAutoFit/>
          </a:bodyPr>
          <a:lstStyle/>
          <a:p>
            <a:pPr algn="l">
              <a:defRPr sz="1200" b="0">
                <a:solidFill>
                  <a:srgbClr val="CBD5E1"/>
                </a:solidFill>
                <a:latin typeface="Calibri"/>
              </a:defRPr>
            </a:pPr>
            <a:r>
              <a:t>Search meetings by title/summary</a:t>
            </a:r>
          </a:p>
        </p:txBody>
      </p:sp>
      <p:sp>
        <p:nvSpPr>
          <p:cNvPr id="49" name="Oval 48"/>
          <p:cNvSpPr/>
          <p:nvPr/>
        </p:nvSpPr>
        <p:spPr>
          <a:xfrm>
            <a:off x="8321040" y="293522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03920" y="2871216"/>
            <a:ext cx="3017520" cy="320040"/>
          </a:xfrm>
          <a:prstGeom prst="rect">
            <a:avLst/>
          </a:prstGeom>
          <a:noFill/>
        </p:spPr>
        <p:txBody>
          <a:bodyPr wrap="square">
            <a:spAutoFit/>
          </a:bodyPr>
          <a:lstStyle/>
          <a:p>
            <a:pPr algn="l">
              <a:defRPr sz="1200" b="0">
                <a:solidFill>
                  <a:srgbClr val="CBD5E1"/>
                </a:solidFill>
                <a:latin typeface="Calibri"/>
              </a:defRPr>
            </a:pPr>
            <a:r>
              <a:t>Search decisions by title/description</a:t>
            </a:r>
          </a:p>
        </p:txBody>
      </p:sp>
      <p:sp>
        <p:nvSpPr>
          <p:cNvPr id="51" name="Oval 50"/>
          <p:cNvSpPr/>
          <p:nvPr/>
        </p:nvSpPr>
        <p:spPr>
          <a:xfrm>
            <a:off x="8321040" y="3374136"/>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03920" y="3310128"/>
            <a:ext cx="3017520" cy="320040"/>
          </a:xfrm>
          <a:prstGeom prst="rect">
            <a:avLst/>
          </a:prstGeom>
          <a:noFill/>
        </p:spPr>
        <p:txBody>
          <a:bodyPr wrap="square">
            <a:spAutoFit/>
          </a:bodyPr>
          <a:lstStyle/>
          <a:p>
            <a:pPr algn="l">
              <a:defRPr sz="1200" b="0">
                <a:solidFill>
                  <a:srgbClr val="CBD5E1"/>
                </a:solidFill>
                <a:latin typeface="Calibri"/>
              </a:defRPr>
            </a:pPr>
            <a:r>
              <a:t>Search tasks and action items</a:t>
            </a:r>
          </a:p>
        </p:txBody>
      </p:sp>
      <p:sp>
        <p:nvSpPr>
          <p:cNvPr id="53" name="Oval 52"/>
          <p:cNvSpPr/>
          <p:nvPr/>
        </p:nvSpPr>
        <p:spPr>
          <a:xfrm>
            <a:off x="8321040" y="3813048"/>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03920" y="3749040"/>
            <a:ext cx="3017520" cy="320040"/>
          </a:xfrm>
          <a:prstGeom prst="rect">
            <a:avLst/>
          </a:prstGeom>
          <a:noFill/>
        </p:spPr>
        <p:txBody>
          <a:bodyPr wrap="square">
            <a:spAutoFit/>
          </a:bodyPr>
          <a:lstStyle/>
          <a:p>
            <a:pPr algn="l">
              <a:defRPr sz="1200" b="0">
                <a:solidFill>
                  <a:srgbClr val="CBD5E1"/>
                </a:solidFill>
                <a:latin typeface="Calibri"/>
              </a:defRPr>
            </a:pPr>
            <a:r>
              <a:t>Filter by type and date range</a:t>
            </a:r>
          </a:p>
        </p:txBody>
      </p:sp>
      <p:sp>
        <p:nvSpPr>
          <p:cNvPr id="55" name="Oval 54"/>
          <p:cNvSpPr/>
          <p:nvPr/>
        </p:nvSpPr>
        <p:spPr>
          <a:xfrm>
            <a:off x="8321040" y="4251960"/>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03920" y="4187952"/>
            <a:ext cx="3017520" cy="320040"/>
          </a:xfrm>
          <a:prstGeom prst="rect">
            <a:avLst/>
          </a:prstGeom>
          <a:noFill/>
        </p:spPr>
        <p:txBody>
          <a:bodyPr wrap="square">
            <a:spAutoFit/>
          </a:bodyPr>
          <a:lstStyle/>
          <a:p>
            <a:pPr algn="l">
              <a:defRPr sz="1200" b="0">
                <a:solidFill>
                  <a:srgbClr val="CBD5E1"/>
                </a:solidFill>
                <a:latin typeface="Calibri"/>
              </a:defRPr>
            </a:pPr>
            <a:r>
              <a:t>Relevance scoring per result</a:t>
            </a:r>
          </a:p>
        </p:txBody>
      </p:sp>
      <p:sp>
        <p:nvSpPr>
          <p:cNvPr id="57" name="Oval 56"/>
          <p:cNvSpPr/>
          <p:nvPr/>
        </p:nvSpPr>
        <p:spPr>
          <a:xfrm>
            <a:off x="8321040" y="4690872"/>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503920" y="4626864"/>
            <a:ext cx="3017520" cy="320040"/>
          </a:xfrm>
          <a:prstGeom prst="rect">
            <a:avLst/>
          </a:prstGeom>
          <a:noFill/>
        </p:spPr>
        <p:txBody>
          <a:bodyPr wrap="square">
            <a:spAutoFit/>
          </a:bodyPr>
          <a:lstStyle/>
          <a:p>
            <a:pPr algn="l">
              <a:defRPr sz="1200" b="0">
                <a:solidFill>
                  <a:srgbClr val="CBD5E1"/>
                </a:solidFill>
                <a:latin typeface="Calibri"/>
              </a:defRPr>
            </a:pPr>
            <a:r>
              <a:t>Paginated results</a:t>
            </a:r>
          </a:p>
        </p:txBody>
      </p:sp>
      <p:sp>
        <p:nvSpPr>
          <p:cNvPr id="59" name="Oval 58"/>
          <p:cNvSpPr/>
          <p:nvPr/>
        </p:nvSpPr>
        <p:spPr>
          <a:xfrm>
            <a:off x="8321040" y="512978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03920" y="5065776"/>
            <a:ext cx="3017520" cy="320040"/>
          </a:xfrm>
          <a:prstGeom prst="rect">
            <a:avLst/>
          </a:prstGeom>
          <a:noFill/>
        </p:spPr>
        <p:txBody>
          <a:bodyPr wrap="square">
            <a:spAutoFit/>
          </a:bodyPr>
          <a:lstStyle/>
          <a:p>
            <a:pPr algn="l">
              <a:defRPr sz="1200" b="0">
                <a:solidFill>
                  <a:srgbClr val="CBD5E1"/>
                </a:solidFill>
                <a:latin typeface="Calibri"/>
              </a:defRPr>
            </a:pPr>
            <a:r>
              <a:t>Recent searches tracking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Reliability and Engineering Quality</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463040"/>
            <a:ext cx="5394960" cy="9144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36192"/>
            <a:ext cx="2011680" cy="274320"/>
          </a:xfrm>
          <a:prstGeom prst="rect">
            <a:avLst/>
          </a:prstGeom>
          <a:noFill/>
        </p:spPr>
        <p:txBody>
          <a:bodyPr wrap="square">
            <a:spAutoFit/>
          </a:bodyPr>
          <a:lstStyle/>
          <a:p>
            <a:pPr algn="l">
              <a:defRPr sz="1400" b="1">
                <a:solidFill>
                  <a:srgbClr val="3B82F6"/>
                </a:solidFill>
                <a:latin typeface="Calibri"/>
              </a:defRPr>
            </a:pPr>
            <a:r>
              <a:t>Authentication</a:t>
            </a:r>
          </a:p>
        </p:txBody>
      </p:sp>
      <p:sp>
        <p:nvSpPr>
          <p:cNvPr id="6" name="TextBox 5"/>
          <p:cNvSpPr txBox="1"/>
          <p:nvPr/>
        </p:nvSpPr>
        <p:spPr>
          <a:xfrm>
            <a:off x="640080" y="1828800"/>
            <a:ext cx="5029200" cy="457200"/>
          </a:xfrm>
          <a:prstGeom prst="rect">
            <a:avLst/>
          </a:prstGeom>
          <a:noFill/>
        </p:spPr>
        <p:txBody>
          <a:bodyPr wrap="square">
            <a:spAutoFit/>
          </a:bodyPr>
          <a:lstStyle/>
          <a:p>
            <a:pPr algn="l">
              <a:defRPr sz="1200" b="0">
                <a:solidFill>
                  <a:srgbClr val="CBD5E1"/>
                </a:solidFill>
                <a:latin typeface="Calibri"/>
              </a:defRPr>
            </a:pPr>
            <a:r>
              <a:t>JWT-based auth with bcrypt password</a:t>
            </a:r>
            <a:br/>
            <a:r>
              <a:t>hashing and user-scoped data</a:t>
            </a:r>
          </a:p>
        </p:txBody>
      </p:sp>
      <p:sp>
        <p:nvSpPr>
          <p:cNvPr id="7" name="Rounded Rectangle 6"/>
          <p:cNvSpPr/>
          <p:nvPr/>
        </p:nvSpPr>
        <p:spPr>
          <a:xfrm>
            <a:off x="457200" y="2514600"/>
            <a:ext cx="5394960" cy="9144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87752"/>
            <a:ext cx="2011680" cy="274320"/>
          </a:xfrm>
          <a:prstGeom prst="rect">
            <a:avLst/>
          </a:prstGeom>
          <a:noFill/>
        </p:spPr>
        <p:txBody>
          <a:bodyPr wrap="square">
            <a:spAutoFit/>
          </a:bodyPr>
          <a:lstStyle/>
          <a:p>
            <a:pPr algn="l">
              <a:defRPr sz="1400" b="1">
                <a:solidFill>
                  <a:srgbClr val="10B981"/>
                </a:solidFill>
                <a:latin typeface="Calibri"/>
              </a:defRPr>
            </a:pPr>
            <a:r>
              <a:t>Test Coverage</a:t>
            </a:r>
          </a:p>
        </p:txBody>
      </p:sp>
      <p:sp>
        <p:nvSpPr>
          <p:cNvPr id="9" name="TextBox 8"/>
          <p:cNvSpPr txBox="1"/>
          <p:nvPr/>
        </p:nvSpPr>
        <p:spPr>
          <a:xfrm>
            <a:off x="640080" y="2880360"/>
            <a:ext cx="5029200" cy="457200"/>
          </a:xfrm>
          <a:prstGeom prst="rect">
            <a:avLst/>
          </a:prstGeom>
          <a:noFill/>
        </p:spPr>
        <p:txBody>
          <a:bodyPr wrap="square">
            <a:spAutoFit/>
          </a:bodyPr>
          <a:lstStyle/>
          <a:p>
            <a:pPr algn="l">
              <a:defRPr sz="1200" b="0">
                <a:solidFill>
                  <a:srgbClr val="CBD5E1"/>
                </a:solidFill>
                <a:latin typeface="Calibri"/>
              </a:defRPr>
            </a:pPr>
            <a:r>
              <a:t>71 backend tests + 96 frontend tests</a:t>
            </a:r>
            <a:br/>
            <a:r>
              <a:t>across 13 test files</a:t>
            </a:r>
          </a:p>
        </p:txBody>
      </p:sp>
      <p:sp>
        <p:nvSpPr>
          <p:cNvPr id="10" name="Rounded Rectangle 9"/>
          <p:cNvSpPr/>
          <p:nvPr/>
        </p:nvSpPr>
        <p:spPr>
          <a:xfrm>
            <a:off x="457200" y="3566160"/>
            <a:ext cx="5394960" cy="9144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639312"/>
            <a:ext cx="2011680" cy="274320"/>
          </a:xfrm>
          <a:prstGeom prst="rect">
            <a:avLst/>
          </a:prstGeom>
          <a:noFill/>
        </p:spPr>
        <p:txBody>
          <a:bodyPr wrap="square">
            <a:spAutoFit/>
          </a:bodyPr>
          <a:lstStyle/>
          <a:p>
            <a:pPr algn="l">
              <a:defRPr sz="1400" b="1">
                <a:solidFill>
                  <a:srgbClr val="7C3AED"/>
                </a:solidFill>
                <a:latin typeface="Calibri"/>
              </a:defRPr>
            </a:pPr>
            <a:r>
              <a:t>Mocked LLM Provider</a:t>
            </a:r>
          </a:p>
        </p:txBody>
      </p:sp>
      <p:sp>
        <p:nvSpPr>
          <p:cNvPr id="12" name="TextBox 11"/>
          <p:cNvSpPr txBox="1"/>
          <p:nvPr/>
        </p:nvSpPr>
        <p:spPr>
          <a:xfrm>
            <a:off x="640080" y="3931920"/>
            <a:ext cx="5029200" cy="457200"/>
          </a:xfrm>
          <a:prstGeom prst="rect">
            <a:avLst/>
          </a:prstGeom>
          <a:noFill/>
        </p:spPr>
        <p:txBody>
          <a:bodyPr wrap="square">
            <a:spAutoFit/>
          </a:bodyPr>
          <a:lstStyle/>
          <a:p>
            <a:pPr algn="l">
              <a:defRPr sz="1200" b="0">
                <a:solidFill>
                  <a:srgbClr val="CBD5E1"/>
                </a:solidFill>
                <a:latin typeface="Calibri"/>
              </a:defRPr>
            </a:pPr>
            <a:r>
              <a:t>Deterministic mock for automated tests;</a:t>
            </a:r>
            <a:br/>
            <a:r>
              <a:t>real Ollama tests opt-in</a:t>
            </a:r>
          </a:p>
        </p:txBody>
      </p:sp>
      <p:sp>
        <p:nvSpPr>
          <p:cNvPr id="13" name="Rounded Rectangle 12"/>
          <p:cNvSpPr/>
          <p:nvPr/>
        </p:nvSpPr>
        <p:spPr>
          <a:xfrm>
            <a:off x="457200" y="4617720"/>
            <a:ext cx="5394960" cy="9144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690872"/>
            <a:ext cx="2011680" cy="274320"/>
          </a:xfrm>
          <a:prstGeom prst="rect">
            <a:avLst/>
          </a:prstGeom>
          <a:noFill/>
        </p:spPr>
        <p:txBody>
          <a:bodyPr wrap="square">
            <a:spAutoFit/>
          </a:bodyPr>
          <a:lstStyle/>
          <a:p>
            <a:pPr algn="l">
              <a:defRPr sz="1400" b="1">
                <a:solidFill>
                  <a:srgbClr val="8B5CF6"/>
                </a:solidFill>
                <a:latin typeface="Calibri"/>
              </a:defRPr>
            </a:pPr>
            <a:r>
              <a:t>Type Safety</a:t>
            </a:r>
          </a:p>
        </p:txBody>
      </p:sp>
      <p:sp>
        <p:nvSpPr>
          <p:cNvPr id="15" name="TextBox 14"/>
          <p:cNvSpPr txBox="1"/>
          <p:nvPr/>
        </p:nvSpPr>
        <p:spPr>
          <a:xfrm>
            <a:off x="640080" y="4983480"/>
            <a:ext cx="5029200" cy="457200"/>
          </a:xfrm>
          <a:prstGeom prst="rect">
            <a:avLst/>
          </a:prstGeom>
          <a:noFill/>
        </p:spPr>
        <p:txBody>
          <a:bodyPr wrap="square">
            <a:spAutoFit/>
          </a:bodyPr>
          <a:lstStyle/>
          <a:p>
            <a:pPr algn="l">
              <a:defRPr sz="1200" b="0">
                <a:solidFill>
                  <a:srgbClr val="CBD5E1"/>
                </a:solidFill>
                <a:latin typeface="Calibri"/>
              </a:defRPr>
            </a:pPr>
            <a:r>
              <a:t>TypeScript strict mode + Pydantic</a:t>
            </a:r>
            <a:br/>
            <a:r>
              <a:t>schema validation end-to-end</a:t>
            </a:r>
          </a:p>
        </p:txBody>
      </p:sp>
      <p:sp>
        <p:nvSpPr>
          <p:cNvPr id="16" name="Rounded Rectangle 15"/>
          <p:cNvSpPr/>
          <p:nvPr/>
        </p:nvSpPr>
        <p:spPr>
          <a:xfrm>
            <a:off x="457200" y="5669280"/>
            <a:ext cx="5394960" cy="9144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742432"/>
            <a:ext cx="2011680" cy="274320"/>
          </a:xfrm>
          <a:prstGeom prst="rect">
            <a:avLst/>
          </a:prstGeom>
          <a:noFill/>
        </p:spPr>
        <p:txBody>
          <a:bodyPr wrap="square">
            <a:spAutoFit/>
          </a:bodyPr>
          <a:lstStyle/>
          <a:p>
            <a:pPr algn="l">
              <a:defRPr sz="1400" b="1">
                <a:solidFill>
                  <a:srgbClr val="06B6D4"/>
                </a:solidFill>
                <a:latin typeface="Calibri"/>
              </a:defRPr>
            </a:pPr>
            <a:r>
              <a:t>Idempotent Processing</a:t>
            </a:r>
          </a:p>
        </p:txBody>
      </p:sp>
      <p:sp>
        <p:nvSpPr>
          <p:cNvPr id="18" name="TextBox 17"/>
          <p:cNvSpPr txBox="1"/>
          <p:nvPr/>
        </p:nvSpPr>
        <p:spPr>
          <a:xfrm>
            <a:off x="640080" y="6035040"/>
            <a:ext cx="5029200" cy="457200"/>
          </a:xfrm>
          <a:prstGeom prst="rect">
            <a:avLst/>
          </a:prstGeom>
          <a:noFill/>
        </p:spPr>
        <p:txBody>
          <a:bodyPr wrap="square">
            <a:spAutoFit/>
          </a:bodyPr>
          <a:lstStyle/>
          <a:p>
            <a:pPr algn="l">
              <a:defRPr sz="1200" b="0">
                <a:solidFill>
                  <a:srgbClr val="CBD5E1"/>
                </a:solidFill>
                <a:latin typeface="Calibri"/>
              </a:defRPr>
            </a:pPr>
            <a:r>
              <a:t>Workflow upsert + data cleanup before</a:t>
            </a:r>
            <a:br/>
            <a:r>
              <a:t>re-extraction prevents duplicates</a:t>
            </a:r>
          </a:p>
        </p:txBody>
      </p:sp>
      <p:sp>
        <p:nvSpPr>
          <p:cNvPr id="19" name="Rounded Rectangle 18"/>
          <p:cNvSpPr/>
          <p:nvPr/>
        </p:nvSpPr>
        <p:spPr>
          <a:xfrm>
            <a:off x="6309360" y="1463040"/>
            <a:ext cx="5394960" cy="9144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1536192"/>
            <a:ext cx="2011680" cy="274320"/>
          </a:xfrm>
          <a:prstGeom prst="rect">
            <a:avLst/>
          </a:prstGeom>
          <a:noFill/>
        </p:spPr>
        <p:txBody>
          <a:bodyPr wrap="square">
            <a:spAutoFit/>
          </a:bodyPr>
          <a:lstStyle/>
          <a:p>
            <a:pPr algn="l">
              <a:defRPr sz="1400" b="1">
                <a:solidFill>
                  <a:srgbClr val="EF4444"/>
                </a:solidFill>
                <a:latin typeface="Calibri"/>
              </a:defRPr>
            </a:pPr>
            <a:r>
              <a:t>Error Handling</a:t>
            </a:r>
          </a:p>
        </p:txBody>
      </p:sp>
      <p:sp>
        <p:nvSpPr>
          <p:cNvPr id="21" name="TextBox 20"/>
          <p:cNvSpPr txBox="1"/>
          <p:nvPr/>
        </p:nvSpPr>
        <p:spPr>
          <a:xfrm>
            <a:off x="6492240" y="1828800"/>
            <a:ext cx="5029200" cy="457200"/>
          </a:xfrm>
          <a:prstGeom prst="rect">
            <a:avLst/>
          </a:prstGeom>
          <a:noFill/>
        </p:spPr>
        <p:txBody>
          <a:bodyPr wrap="square">
            <a:spAutoFit/>
          </a:bodyPr>
          <a:lstStyle/>
          <a:p>
            <a:pPr algn="l">
              <a:defRPr sz="1200" b="0">
                <a:solidFill>
                  <a:srgbClr val="CBD5E1"/>
                </a:solidFill>
                <a:latin typeface="Calibri"/>
              </a:defRPr>
            </a:pPr>
            <a:r>
              <a:t>OllamaError with safe user-facing</a:t>
            </a:r>
            <a:br/>
            <a:r>
              <a:t>messages; failures persisted to DB</a:t>
            </a:r>
          </a:p>
        </p:txBody>
      </p:sp>
      <p:sp>
        <p:nvSpPr>
          <p:cNvPr id="22" name="Rounded Rectangle 21"/>
          <p:cNvSpPr/>
          <p:nvPr/>
        </p:nvSpPr>
        <p:spPr>
          <a:xfrm>
            <a:off x="6309360" y="2514600"/>
            <a:ext cx="5394960" cy="9144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587752"/>
            <a:ext cx="2011680" cy="274320"/>
          </a:xfrm>
          <a:prstGeom prst="rect">
            <a:avLst/>
          </a:prstGeom>
          <a:noFill/>
        </p:spPr>
        <p:txBody>
          <a:bodyPr wrap="square">
            <a:spAutoFit/>
          </a:bodyPr>
          <a:lstStyle/>
          <a:p>
            <a:pPr algn="l">
              <a:defRPr sz="1400" b="1">
                <a:solidFill>
                  <a:srgbClr val="10B981"/>
                </a:solidFill>
                <a:latin typeface="Calibri"/>
              </a:defRPr>
            </a:pPr>
            <a:r>
              <a:t>Build Quality</a:t>
            </a:r>
          </a:p>
        </p:txBody>
      </p:sp>
      <p:sp>
        <p:nvSpPr>
          <p:cNvPr id="24" name="TextBox 23"/>
          <p:cNvSpPr txBox="1"/>
          <p:nvPr/>
        </p:nvSpPr>
        <p:spPr>
          <a:xfrm>
            <a:off x="6492240" y="2880360"/>
            <a:ext cx="5029200" cy="457200"/>
          </a:xfrm>
          <a:prstGeom prst="rect">
            <a:avLst/>
          </a:prstGeom>
          <a:noFill/>
        </p:spPr>
        <p:txBody>
          <a:bodyPr wrap="square">
            <a:spAutoFit/>
          </a:bodyPr>
          <a:lstStyle/>
          <a:p>
            <a:pPr algn="l">
              <a:defRPr sz="1200" b="0">
                <a:solidFill>
                  <a:srgbClr val="CBD5E1"/>
                </a:solidFill>
                <a:latin typeface="Calibri"/>
              </a:defRPr>
            </a:pPr>
            <a:r>
              <a:t>0 TypeScript errors, 0 lint warnings,</a:t>
            </a:r>
            <a:br/>
            <a:r>
              <a:t>0 build errors in production</a:t>
            </a:r>
          </a:p>
        </p:txBody>
      </p:sp>
      <p:sp>
        <p:nvSpPr>
          <p:cNvPr id="25" name="Rounded Rectangle 24"/>
          <p:cNvSpPr/>
          <p:nvPr/>
        </p:nvSpPr>
        <p:spPr>
          <a:xfrm>
            <a:off x="6309360" y="3566160"/>
            <a:ext cx="5394960" cy="9144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639312"/>
            <a:ext cx="2011680" cy="274320"/>
          </a:xfrm>
          <a:prstGeom prst="rect">
            <a:avLst/>
          </a:prstGeom>
          <a:noFill/>
        </p:spPr>
        <p:txBody>
          <a:bodyPr wrap="square">
            <a:spAutoFit/>
          </a:bodyPr>
          <a:lstStyle/>
          <a:p>
            <a:pPr algn="l">
              <a:defRPr sz="1400" b="1">
                <a:solidFill>
                  <a:srgbClr val="F59E0B"/>
                </a:solidFill>
                <a:latin typeface="Calibri"/>
              </a:defRPr>
            </a:pPr>
            <a:r>
              <a:t>Database Migrations</a:t>
            </a:r>
          </a:p>
        </p:txBody>
      </p:sp>
      <p:sp>
        <p:nvSpPr>
          <p:cNvPr id="27" name="TextBox 26"/>
          <p:cNvSpPr txBox="1"/>
          <p:nvPr/>
        </p:nvSpPr>
        <p:spPr>
          <a:xfrm>
            <a:off x="6492240" y="3931920"/>
            <a:ext cx="5029200" cy="457200"/>
          </a:xfrm>
          <a:prstGeom prst="rect">
            <a:avLst/>
          </a:prstGeom>
          <a:noFill/>
        </p:spPr>
        <p:txBody>
          <a:bodyPr wrap="square">
            <a:spAutoFit/>
          </a:bodyPr>
          <a:lstStyle/>
          <a:p>
            <a:pPr algn="l">
              <a:defRPr sz="1200" b="0">
                <a:solidFill>
                  <a:srgbClr val="CBD5E1"/>
                </a:solidFill>
                <a:latin typeface="Calibri"/>
              </a:defRPr>
            </a:pPr>
            <a:r>
              <a:t>Idempotent startup migrations</a:t>
            </a:r>
            <a:br/>
            <a:r>
              <a:t>with non-destructive schema evolution</a:t>
            </a:r>
          </a:p>
        </p:txBody>
      </p:sp>
      <p:sp>
        <p:nvSpPr>
          <p:cNvPr id="28" name="Rounded Rectangle 27"/>
          <p:cNvSpPr/>
          <p:nvPr/>
        </p:nvSpPr>
        <p:spPr>
          <a:xfrm>
            <a:off x="6309360" y="4617720"/>
            <a:ext cx="5394960" cy="9144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4690872"/>
            <a:ext cx="2011680" cy="274320"/>
          </a:xfrm>
          <a:prstGeom prst="rect">
            <a:avLst/>
          </a:prstGeom>
          <a:noFill/>
        </p:spPr>
        <p:txBody>
          <a:bodyPr wrap="square">
            <a:spAutoFit/>
          </a:bodyPr>
          <a:lstStyle/>
          <a:p>
            <a:pPr algn="l">
              <a:defRPr sz="1400" b="1">
                <a:solidFill>
                  <a:srgbClr val="3B82F6"/>
                </a:solidFill>
                <a:latin typeface="Calibri"/>
              </a:defRPr>
            </a:pPr>
            <a:r>
              <a:t>Transactional Tests</a:t>
            </a:r>
          </a:p>
        </p:txBody>
      </p:sp>
      <p:sp>
        <p:nvSpPr>
          <p:cNvPr id="30" name="TextBox 29"/>
          <p:cNvSpPr txBox="1"/>
          <p:nvPr/>
        </p:nvSpPr>
        <p:spPr>
          <a:xfrm>
            <a:off x="6492240" y="4983480"/>
            <a:ext cx="5029200" cy="457200"/>
          </a:xfrm>
          <a:prstGeom prst="rect">
            <a:avLst/>
          </a:prstGeom>
          <a:noFill/>
        </p:spPr>
        <p:txBody>
          <a:bodyPr wrap="square">
            <a:spAutoFit/>
          </a:bodyPr>
          <a:lstStyle/>
          <a:p>
            <a:pPr algn="l">
              <a:defRPr sz="1200" b="0">
                <a:solidFill>
                  <a:srgbClr val="CBD5E1"/>
                </a:solidFill>
                <a:latin typeface="Calibri"/>
              </a:defRPr>
            </a:pPr>
            <a:r>
              <a:t>ASGI transport with session rollback</a:t>
            </a:r>
            <a:br/>
            <a:r>
              <a:t>isolation — no test pollution</a:t>
            </a:r>
          </a:p>
        </p:txBody>
      </p:sp>
      <p:sp>
        <p:nvSpPr>
          <p:cNvPr id="31" name="Rounded Rectangle 30"/>
          <p:cNvSpPr/>
          <p:nvPr/>
        </p:nvSpPr>
        <p:spPr>
          <a:xfrm>
            <a:off x="6309360" y="5669280"/>
            <a:ext cx="5394960" cy="9144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5742432"/>
            <a:ext cx="2011680" cy="274320"/>
          </a:xfrm>
          <a:prstGeom prst="rect">
            <a:avLst/>
          </a:prstGeom>
          <a:noFill/>
        </p:spPr>
        <p:txBody>
          <a:bodyPr wrap="square">
            <a:spAutoFit/>
          </a:bodyPr>
          <a:lstStyle/>
          <a:p>
            <a:pPr algn="l">
              <a:defRPr sz="1400" b="1">
                <a:solidFill>
                  <a:srgbClr val="EC4899"/>
                </a:solidFill>
                <a:latin typeface="Calibri"/>
              </a:defRPr>
            </a:pPr>
            <a:r>
              <a:t>Retry Tracking</a:t>
            </a:r>
          </a:p>
        </p:txBody>
      </p:sp>
      <p:sp>
        <p:nvSpPr>
          <p:cNvPr id="33" name="TextBox 32"/>
          <p:cNvSpPr txBox="1"/>
          <p:nvPr/>
        </p:nvSpPr>
        <p:spPr>
          <a:xfrm>
            <a:off x="6492240" y="6035040"/>
            <a:ext cx="5029200" cy="457200"/>
          </a:xfrm>
          <a:prstGeom prst="rect">
            <a:avLst/>
          </a:prstGeom>
          <a:noFill/>
        </p:spPr>
        <p:txBody>
          <a:bodyPr wrap="square">
            <a:spAutoFit/>
          </a:bodyPr>
          <a:lstStyle/>
          <a:p>
            <a:pPr algn="l">
              <a:defRPr sz="1200" b="0">
                <a:solidFill>
                  <a:srgbClr val="CBD5E1"/>
                </a:solidFill>
                <a:latin typeface="Calibri"/>
              </a:defRPr>
            </a:pPr>
            <a:r>
              <a:t>WorkflowState.attempt counter;</a:t>
            </a:r>
            <a:br/>
            <a:r>
              <a:t>configurable LLM max_retries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Key Technical Challenges</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71600"/>
            <a:ext cx="11247120" cy="96012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44752"/>
            <a:ext cx="822960" cy="228600"/>
          </a:xfrm>
          <a:prstGeom prst="rect">
            <a:avLst/>
          </a:prstGeom>
          <a:noFill/>
        </p:spPr>
        <p:txBody>
          <a:bodyPr wrap="square">
            <a:spAutoFit/>
          </a:bodyPr>
          <a:lstStyle/>
          <a:p>
            <a:pPr algn="l">
              <a:defRPr sz="1100" b="1">
                <a:solidFill>
                  <a:srgbClr val="EF4444"/>
                </a:solidFill>
                <a:latin typeface="Calibri"/>
              </a:defRPr>
            </a:pPr>
            <a:r>
              <a:t>Challenge:</a:t>
            </a:r>
          </a:p>
        </p:txBody>
      </p:sp>
      <p:sp>
        <p:nvSpPr>
          <p:cNvPr id="6" name="TextBox 5"/>
          <p:cNvSpPr txBox="1"/>
          <p:nvPr/>
        </p:nvSpPr>
        <p:spPr>
          <a:xfrm>
            <a:off x="1463040" y="1444752"/>
            <a:ext cx="4572000" cy="228600"/>
          </a:xfrm>
          <a:prstGeom prst="rect">
            <a:avLst/>
          </a:prstGeom>
          <a:noFill/>
        </p:spPr>
        <p:txBody>
          <a:bodyPr wrap="square">
            <a:spAutoFit/>
          </a:bodyPr>
          <a:lstStyle/>
          <a:p>
            <a:pPr algn="l">
              <a:defRPr sz="1300" b="1">
                <a:solidFill>
                  <a:srgbClr val="FFFFFF"/>
                </a:solidFill>
                <a:latin typeface="Calibri"/>
              </a:defRPr>
            </a:pPr>
            <a:r>
              <a:t>Slow Local CPU Inference</a:t>
            </a:r>
          </a:p>
        </p:txBody>
      </p:sp>
      <p:sp>
        <p:nvSpPr>
          <p:cNvPr id="7" name="TextBox 6"/>
          <p:cNvSpPr txBox="1"/>
          <p:nvPr/>
        </p:nvSpPr>
        <p:spPr>
          <a:xfrm>
            <a:off x="640080" y="1719072"/>
            <a:ext cx="822960" cy="228600"/>
          </a:xfrm>
          <a:prstGeom prst="rect">
            <a:avLst/>
          </a:prstGeom>
          <a:noFill/>
        </p:spPr>
        <p:txBody>
          <a:bodyPr wrap="square">
            <a:spAutoFit/>
          </a:bodyPr>
          <a:lstStyle/>
          <a:p>
            <a:pPr algn="l">
              <a:defRPr sz="1100" b="1">
                <a:solidFill>
                  <a:srgbClr val="10B981"/>
                </a:solidFill>
                <a:latin typeface="Calibri"/>
              </a:defRPr>
            </a:pPr>
            <a:r>
              <a:t>Solution:</a:t>
            </a:r>
          </a:p>
        </p:txBody>
      </p:sp>
      <p:sp>
        <p:nvSpPr>
          <p:cNvPr id="8" name="TextBox 7"/>
          <p:cNvSpPr txBox="1"/>
          <p:nvPr/>
        </p:nvSpPr>
        <p:spPr>
          <a:xfrm>
            <a:off x="1463040" y="1719072"/>
            <a:ext cx="9875520" cy="548640"/>
          </a:xfrm>
          <a:prstGeom prst="rect">
            <a:avLst/>
          </a:prstGeom>
          <a:noFill/>
        </p:spPr>
        <p:txBody>
          <a:bodyPr wrap="square">
            <a:spAutoFit/>
          </a:bodyPr>
          <a:lstStyle/>
          <a:p>
            <a:pPr algn="l">
              <a:defRPr sz="1200" b="0">
                <a:solidFill>
                  <a:srgbClr val="CBD5E1"/>
                </a:solidFill>
                <a:latin typeface="Calibri"/>
              </a:defRPr>
            </a:pPr>
            <a:r>
              <a:t>Long configurable timeout, workflow progress tracking, duplicate-</a:t>
            </a:r>
            <a:br/>
            <a:r>
              <a:t>submission prevention, and planned async execution queue</a:t>
            </a:r>
          </a:p>
        </p:txBody>
      </p:sp>
      <p:sp>
        <p:nvSpPr>
          <p:cNvPr id="9" name="Rounded Rectangle 8"/>
          <p:cNvSpPr/>
          <p:nvPr/>
        </p:nvSpPr>
        <p:spPr>
          <a:xfrm>
            <a:off x="457200" y="2423160"/>
            <a:ext cx="11247120" cy="96012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96312"/>
            <a:ext cx="822960" cy="228600"/>
          </a:xfrm>
          <a:prstGeom prst="rect">
            <a:avLst/>
          </a:prstGeom>
          <a:noFill/>
        </p:spPr>
        <p:txBody>
          <a:bodyPr wrap="square">
            <a:spAutoFit/>
          </a:bodyPr>
          <a:lstStyle/>
          <a:p>
            <a:pPr algn="l">
              <a:defRPr sz="1100" b="1">
                <a:solidFill>
                  <a:srgbClr val="F59E0B"/>
                </a:solidFill>
                <a:latin typeface="Calibri"/>
              </a:defRPr>
            </a:pPr>
            <a:r>
              <a:t>Challenge:</a:t>
            </a:r>
          </a:p>
        </p:txBody>
      </p:sp>
      <p:sp>
        <p:nvSpPr>
          <p:cNvPr id="11" name="TextBox 10"/>
          <p:cNvSpPr txBox="1"/>
          <p:nvPr/>
        </p:nvSpPr>
        <p:spPr>
          <a:xfrm>
            <a:off x="1463040" y="2496312"/>
            <a:ext cx="4572000" cy="228600"/>
          </a:xfrm>
          <a:prstGeom prst="rect">
            <a:avLst/>
          </a:prstGeom>
          <a:noFill/>
        </p:spPr>
        <p:txBody>
          <a:bodyPr wrap="square">
            <a:spAutoFit/>
          </a:bodyPr>
          <a:lstStyle/>
          <a:p>
            <a:pPr algn="l">
              <a:defRPr sz="1300" b="1">
                <a:solidFill>
                  <a:srgbClr val="FFFFFF"/>
                </a:solidFill>
                <a:latin typeface="Calibri"/>
              </a:defRPr>
            </a:pPr>
            <a:r>
              <a:t>Reliable Structured LLM Output</a:t>
            </a:r>
          </a:p>
        </p:txBody>
      </p:sp>
      <p:sp>
        <p:nvSpPr>
          <p:cNvPr id="12" name="TextBox 11"/>
          <p:cNvSpPr txBox="1"/>
          <p:nvPr/>
        </p:nvSpPr>
        <p:spPr>
          <a:xfrm>
            <a:off x="640080" y="2770632"/>
            <a:ext cx="822960" cy="228600"/>
          </a:xfrm>
          <a:prstGeom prst="rect">
            <a:avLst/>
          </a:prstGeom>
          <a:noFill/>
        </p:spPr>
        <p:txBody>
          <a:bodyPr wrap="square">
            <a:spAutoFit/>
          </a:bodyPr>
          <a:lstStyle/>
          <a:p>
            <a:pPr algn="l">
              <a:defRPr sz="1100" b="1">
                <a:solidFill>
                  <a:srgbClr val="10B981"/>
                </a:solidFill>
                <a:latin typeface="Calibri"/>
              </a:defRPr>
            </a:pPr>
            <a:r>
              <a:t>Solution:</a:t>
            </a:r>
          </a:p>
        </p:txBody>
      </p:sp>
      <p:sp>
        <p:nvSpPr>
          <p:cNvPr id="13" name="TextBox 12"/>
          <p:cNvSpPr txBox="1"/>
          <p:nvPr/>
        </p:nvSpPr>
        <p:spPr>
          <a:xfrm>
            <a:off x="1463040" y="2770632"/>
            <a:ext cx="9875520" cy="548640"/>
          </a:xfrm>
          <a:prstGeom prst="rect">
            <a:avLst/>
          </a:prstGeom>
          <a:noFill/>
        </p:spPr>
        <p:txBody>
          <a:bodyPr wrap="square">
            <a:spAutoFit/>
          </a:bodyPr>
          <a:lstStyle/>
          <a:p>
            <a:pPr algn="l">
              <a:defRPr sz="1200" b="0">
                <a:solidFill>
                  <a:srgbClr val="CBD5E1"/>
                </a:solidFill>
                <a:latin typeface="Calibri"/>
              </a:defRPr>
            </a:pPr>
            <a:r>
              <a:t>JSON schema prompting, $defs/$ref dereferencing for Ollama grammar</a:t>
            </a:r>
            <a:br/>
            <a:r>
              <a:t>performance, Pydantic validation, and graceful failure handling</a:t>
            </a:r>
          </a:p>
        </p:txBody>
      </p:sp>
      <p:sp>
        <p:nvSpPr>
          <p:cNvPr id="14" name="Rounded Rectangle 13"/>
          <p:cNvSpPr/>
          <p:nvPr/>
        </p:nvSpPr>
        <p:spPr>
          <a:xfrm>
            <a:off x="457200" y="3474720"/>
            <a:ext cx="11247120" cy="96012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547872"/>
            <a:ext cx="822960" cy="228600"/>
          </a:xfrm>
          <a:prstGeom prst="rect">
            <a:avLst/>
          </a:prstGeom>
          <a:noFill/>
        </p:spPr>
        <p:txBody>
          <a:bodyPr wrap="square">
            <a:spAutoFit/>
          </a:bodyPr>
          <a:lstStyle/>
          <a:p>
            <a:pPr algn="l">
              <a:defRPr sz="1100" b="1">
                <a:solidFill>
                  <a:srgbClr val="7C3AED"/>
                </a:solidFill>
                <a:latin typeface="Calibri"/>
              </a:defRPr>
            </a:pPr>
            <a:r>
              <a:t>Challenge:</a:t>
            </a:r>
          </a:p>
        </p:txBody>
      </p:sp>
      <p:sp>
        <p:nvSpPr>
          <p:cNvPr id="16" name="TextBox 15"/>
          <p:cNvSpPr txBox="1"/>
          <p:nvPr/>
        </p:nvSpPr>
        <p:spPr>
          <a:xfrm>
            <a:off x="1463040" y="3547872"/>
            <a:ext cx="4572000" cy="228600"/>
          </a:xfrm>
          <a:prstGeom prst="rect">
            <a:avLst/>
          </a:prstGeom>
          <a:noFill/>
        </p:spPr>
        <p:txBody>
          <a:bodyPr wrap="square">
            <a:spAutoFit/>
          </a:bodyPr>
          <a:lstStyle/>
          <a:p>
            <a:pPr algn="l">
              <a:defRPr sz="1300" b="1">
                <a:solidFill>
                  <a:srgbClr val="FFFFFF"/>
                </a:solidFill>
                <a:latin typeface="Calibri"/>
              </a:defRPr>
            </a:pPr>
            <a:r>
              <a:t>Workflow Visibility</a:t>
            </a:r>
          </a:p>
        </p:txBody>
      </p:sp>
      <p:sp>
        <p:nvSpPr>
          <p:cNvPr id="17" name="TextBox 16"/>
          <p:cNvSpPr txBox="1"/>
          <p:nvPr/>
        </p:nvSpPr>
        <p:spPr>
          <a:xfrm>
            <a:off x="640080" y="3822192"/>
            <a:ext cx="822960" cy="228600"/>
          </a:xfrm>
          <a:prstGeom prst="rect">
            <a:avLst/>
          </a:prstGeom>
          <a:noFill/>
        </p:spPr>
        <p:txBody>
          <a:bodyPr wrap="square">
            <a:spAutoFit/>
          </a:bodyPr>
          <a:lstStyle/>
          <a:p>
            <a:pPr algn="l">
              <a:defRPr sz="1100" b="1">
                <a:solidFill>
                  <a:srgbClr val="10B981"/>
                </a:solidFill>
                <a:latin typeface="Calibri"/>
              </a:defRPr>
            </a:pPr>
            <a:r>
              <a:t>Solution:</a:t>
            </a:r>
          </a:p>
        </p:txBody>
      </p:sp>
      <p:sp>
        <p:nvSpPr>
          <p:cNvPr id="18" name="TextBox 17"/>
          <p:cNvSpPr txBox="1"/>
          <p:nvPr/>
        </p:nvSpPr>
        <p:spPr>
          <a:xfrm>
            <a:off x="1463040" y="3822192"/>
            <a:ext cx="9875520" cy="548640"/>
          </a:xfrm>
          <a:prstGeom prst="rect">
            <a:avLst/>
          </a:prstGeom>
          <a:noFill/>
        </p:spPr>
        <p:txBody>
          <a:bodyPr wrap="square">
            <a:spAutoFit/>
          </a:bodyPr>
          <a:lstStyle/>
          <a:p>
            <a:pPr algn="l">
              <a:defRPr sz="1200" b="0">
                <a:solidFill>
                  <a:srgbClr val="CBD5E1"/>
                </a:solidFill>
                <a:latin typeface="Calibri"/>
              </a:defRPr>
            </a:pPr>
            <a:r>
              <a:t>Persistent WorkflowState model with 14 stage definitions, progress</a:t>
            </a:r>
            <a:br/>
            <a:r>
              <a:t>percentages, retry tracking, and human approval boundary</a:t>
            </a:r>
          </a:p>
        </p:txBody>
      </p:sp>
      <p:sp>
        <p:nvSpPr>
          <p:cNvPr id="19" name="Rounded Rectangle 18"/>
          <p:cNvSpPr/>
          <p:nvPr/>
        </p:nvSpPr>
        <p:spPr>
          <a:xfrm>
            <a:off x="457200" y="4526280"/>
            <a:ext cx="11247120" cy="96012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599432"/>
            <a:ext cx="822960" cy="228600"/>
          </a:xfrm>
          <a:prstGeom prst="rect">
            <a:avLst/>
          </a:prstGeom>
          <a:noFill/>
        </p:spPr>
        <p:txBody>
          <a:bodyPr wrap="square">
            <a:spAutoFit/>
          </a:bodyPr>
          <a:lstStyle/>
          <a:p>
            <a:pPr algn="l">
              <a:defRPr sz="1100" b="1">
                <a:solidFill>
                  <a:srgbClr val="3B82F6"/>
                </a:solidFill>
                <a:latin typeface="Calibri"/>
              </a:defRPr>
            </a:pPr>
            <a:r>
              <a:t>Challenge:</a:t>
            </a:r>
          </a:p>
        </p:txBody>
      </p:sp>
      <p:sp>
        <p:nvSpPr>
          <p:cNvPr id="21" name="TextBox 20"/>
          <p:cNvSpPr txBox="1"/>
          <p:nvPr/>
        </p:nvSpPr>
        <p:spPr>
          <a:xfrm>
            <a:off x="1463040" y="4599432"/>
            <a:ext cx="4572000" cy="228600"/>
          </a:xfrm>
          <a:prstGeom prst="rect">
            <a:avLst/>
          </a:prstGeom>
          <a:noFill/>
        </p:spPr>
        <p:txBody>
          <a:bodyPr wrap="square">
            <a:spAutoFit/>
          </a:bodyPr>
          <a:lstStyle/>
          <a:p>
            <a:pPr algn="l">
              <a:defRPr sz="1300" b="1">
                <a:solidFill>
                  <a:srgbClr val="FFFFFF"/>
                </a:solidFill>
                <a:latin typeface="Calibri"/>
              </a:defRPr>
            </a:pPr>
            <a:r>
              <a:t>Test Isolation and Flaky LLM Tests</a:t>
            </a:r>
          </a:p>
        </p:txBody>
      </p:sp>
      <p:sp>
        <p:nvSpPr>
          <p:cNvPr id="22" name="TextBox 21"/>
          <p:cNvSpPr txBox="1"/>
          <p:nvPr/>
        </p:nvSpPr>
        <p:spPr>
          <a:xfrm>
            <a:off x="640080" y="4873752"/>
            <a:ext cx="822960" cy="228600"/>
          </a:xfrm>
          <a:prstGeom prst="rect">
            <a:avLst/>
          </a:prstGeom>
          <a:noFill/>
        </p:spPr>
        <p:txBody>
          <a:bodyPr wrap="square">
            <a:spAutoFit/>
          </a:bodyPr>
          <a:lstStyle/>
          <a:p>
            <a:pPr algn="l">
              <a:defRPr sz="1100" b="1">
                <a:solidFill>
                  <a:srgbClr val="10B981"/>
                </a:solidFill>
                <a:latin typeface="Calibri"/>
              </a:defRPr>
            </a:pPr>
            <a:r>
              <a:t>Solution:</a:t>
            </a:r>
          </a:p>
        </p:txBody>
      </p:sp>
      <p:sp>
        <p:nvSpPr>
          <p:cNvPr id="23" name="TextBox 22"/>
          <p:cNvSpPr txBox="1"/>
          <p:nvPr/>
        </p:nvSpPr>
        <p:spPr>
          <a:xfrm>
            <a:off x="1463040" y="4873752"/>
            <a:ext cx="9875520" cy="548640"/>
          </a:xfrm>
          <a:prstGeom prst="rect">
            <a:avLst/>
          </a:prstGeom>
          <a:noFill/>
        </p:spPr>
        <p:txBody>
          <a:bodyPr wrap="square">
            <a:spAutoFit/>
          </a:bodyPr>
          <a:lstStyle/>
          <a:p>
            <a:pPr algn="l">
              <a:defRPr sz="1200" b="0">
                <a:solidFill>
                  <a:srgbClr val="CBD5E1"/>
                </a:solidFill>
                <a:latin typeface="Calibri"/>
              </a:defRPr>
            </a:pPr>
            <a:r>
              <a:t>ASGI transport, mocked intelligence extraction, transactional rollback,</a:t>
            </a:r>
            <a:br/>
            <a:r>
              <a:t>and opt-in real Ollama tests via environment variable</a:t>
            </a:r>
          </a:p>
        </p:txBody>
      </p:sp>
      <p:sp>
        <p:nvSpPr>
          <p:cNvPr id="24" name="Rounded Rectangle 23"/>
          <p:cNvSpPr/>
          <p:nvPr/>
        </p:nvSpPr>
        <p:spPr>
          <a:xfrm>
            <a:off x="457200" y="5577840"/>
            <a:ext cx="11247120" cy="96012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650992"/>
            <a:ext cx="822960" cy="228600"/>
          </a:xfrm>
          <a:prstGeom prst="rect">
            <a:avLst/>
          </a:prstGeom>
          <a:noFill/>
        </p:spPr>
        <p:txBody>
          <a:bodyPr wrap="square">
            <a:spAutoFit/>
          </a:bodyPr>
          <a:lstStyle/>
          <a:p>
            <a:pPr algn="l">
              <a:defRPr sz="1100" b="1">
                <a:solidFill>
                  <a:srgbClr val="06B6D4"/>
                </a:solidFill>
                <a:latin typeface="Calibri"/>
              </a:defRPr>
            </a:pPr>
            <a:r>
              <a:t>Challenge:</a:t>
            </a:r>
          </a:p>
        </p:txBody>
      </p:sp>
      <p:sp>
        <p:nvSpPr>
          <p:cNvPr id="26" name="TextBox 25"/>
          <p:cNvSpPr txBox="1"/>
          <p:nvPr/>
        </p:nvSpPr>
        <p:spPr>
          <a:xfrm>
            <a:off x="1463040" y="5650992"/>
            <a:ext cx="4572000" cy="228600"/>
          </a:xfrm>
          <a:prstGeom prst="rect">
            <a:avLst/>
          </a:prstGeom>
          <a:noFill/>
        </p:spPr>
        <p:txBody>
          <a:bodyPr wrap="square">
            <a:spAutoFit/>
          </a:bodyPr>
          <a:lstStyle/>
          <a:p>
            <a:pPr algn="l">
              <a:defRPr sz="1300" b="1">
                <a:solidFill>
                  <a:srgbClr val="FFFFFF"/>
                </a:solidFill>
                <a:latin typeface="Calibri"/>
              </a:defRPr>
            </a:pPr>
            <a:r>
              <a:t>Database Schema Evolution</a:t>
            </a:r>
          </a:p>
        </p:txBody>
      </p:sp>
      <p:sp>
        <p:nvSpPr>
          <p:cNvPr id="27" name="TextBox 26"/>
          <p:cNvSpPr txBox="1"/>
          <p:nvPr/>
        </p:nvSpPr>
        <p:spPr>
          <a:xfrm>
            <a:off x="640080" y="5925312"/>
            <a:ext cx="822960" cy="228600"/>
          </a:xfrm>
          <a:prstGeom prst="rect">
            <a:avLst/>
          </a:prstGeom>
          <a:noFill/>
        </p:spPr>
        <p:txBody>
          <a:bodyPr wrap="square">
            <a:spAutoFit/>
          </a:bodyPr>
          <a:lstStyle/>
          <a:p>
            <a:pPr algn="l">
              <a:defRPr sz="1100" b="1">
                <a:solidFill>
                  <a:srgbClr val="10B981"/>
                </a:solidFill>
                <a:latin typeface="Calibri"/>
              </a:defRPr>
            </a:pPr>
            <a:r>
              <a:t>Solution:</a:t>
            </a:r>
          </a:p>
        </p:txBody>
      </p:sp>
      <p:sp>
        <p:nvSpPr>
          <p:cNvPr id="28" name="TextBox 27"/>
          <p:cNvSpPr txBox="1"/>
          <p:nvPr/>
        </p:nvSpPr>
        <p:spPr>
          <a:xfrm>
            <a:off x="1463040" y="5925312"/>
            <a:ext cx="9875520" cy="548640"/>
          </a:xfrm>
          <a:prstGeom prst="rect">
            <a:avLst/>
          </a:prstGeom>
          <a:noFill/>
        </p:spPr>
        <p:txBody>
          <a:bodyPr wrap="square">
            <a:spAutoFit/>
          </a:bodyPr>
          <a:lstStyle/>
          <a:p>
            <a:pPr algn="l">
              <a:defRPr sz="1200" b="0">
                <a:solidFill>
                  <a:srgbClr val="CBD5E1"/>
                </a:solidFill>
                <a:latin typeface="Calibri"/>
              </a:defRPr>
            </a:pPr>
            <a:r>
              <a:t>Idempotent, non-destructive startup migrations that add columns and</a:t>
            </a:r>
            <a:br/>
            <a:r>
              <a:t>tables without dropping existing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Innovation and Differentiation</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554480"/>
            <a:ext cx="557784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554480"/>
            <a:ext cx="557784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5212080" cy="365760"/>
          </a:xfrm>
          <a:prstGeom prst="rect">
            <a:avLst/>
          </a:prstGeom>
          <a:noFill/>
        </p:spPr>
        <p:txBody>
          <a:bodyPr wrap="square">
            <a:spAutoFit/>
          </a:bodyPr>
          <a:lstStyle/>
          <a:p>
            <a:pPr algn="l">
              <a:defRPr sz="1800" b="1">
                <a:solidFill>
                  <a:srgbClr val="7C3AED"/>
                </a:solidFill>
                <a:latin typeface="Calibri"/>
              </a:defRPr>
            </a:pPr>
            <a:r>
              <a:t>Local-First Intelligence</a:t>
            </a:r>
          </a:p>
        </p:txBody>
      </p:sp>
      <p:sp>
        <p:nvSpPr>
          <p:cNvPr id="7" name="TextBox 6"/>
          <p:cNvSpPr txBox="1"/>
          <p:nvPr/>
        </p:nvSpPr>
        <p:spPr>
          <a:xfrm>
            <a:off x="640080" y="2103120"/>
            <a:ext cx="5212080" cy="731520"/>
          </a:xfrm>
          <a:prstGeom prst="rect">
            <a:avLst/>
          </a:prstGeom>
          <a:noFill/>
        </p:spPr>
        <p:txBody>
          <a:bodyPr wrap="square">
            <a:spAutoFit/>
          </a:bodyPr>
          <a:lstStyle/>
          <a:p>
            <a:pPr algn="l">
              <a:defRPr sz="1400" b="0">
                <a:solidFill>
                  <a:srgbClr val="CBD5E1"/>
                </a:solidFill>
                <a:latin typeface="Calibri"/>
              </a:defRPr>
            </a:pPr>
            <a:r>
              <a:t>Transcripts processed by a local model.</a:t>
            </a:r>
            <a:br/>
            <a:r>
              <a:t>No data leaves your infrastructure.</a:t>
            </a:r>
          </a:p>
        </p:txBody>
      </p:sp>
      <p:sp>
        <p:nvSpPr>
          <p:cNvPr id="8" name="Rounded Rectangle 7"/>
          <p:cNvSpPr/>
          <p:nvPr/>
        </p:nvSpPr>
        <p:spPr>
          <a:xfrm>
            <a:off x="6309360" y="1554480"/>
            <a:ext cx="557784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554480"/>
            <a:ext cx="557784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91640"/>
            <a:ext cx="5212080" cy="365760"/>
          </a:xfrm>
          <a:prstGeom prst="rect">
            <a:avLst/>
          </a:prstGeom>
          <a:noFill/>
        </p:spPr>
        <p:txBody>
          <a:bodyPr wrap="square">
            <a:spAutoFit/>
          </a:bodyPr>
          <a:lstStyle/>
          <a:p>
            <a:pPr algn="l">
              <a:defRPr sz="1800" b="1">
                <a:solidFill>
                  <a:srgbClr val="3B82F6"/>
                </a:solidFill>
                <a:latin typeface="Calibri"/>
              </a:defRPr>
            </a:pPr>
            <a:r>
              <a:t>Beyond Summarization</a:t>
            </a:r>
          </a:p>
        </p:txBody>
      </p:sp>
      <p:sp>
        <p:nvSpPr>
          <p:cNvPr id="11" name="TextBox 10"/>
          <p:cNvSpPr txBox="1"/>
          <p:nvPr/>
        </p:nvSpPr>
        <p:spPr>
          <a:xfrm>
            <a:off x="6492240" y="2103120"/>
            <a:ext cx="5212080" cy="731520"/>
          </a:xfrm>
          <a:prstGeom prst="rect">
            <a:avLst/>
          </a:prstGeom>
          <a:noFill/>
        </p:spPr>
        <p:txBody>
          <a:bodyPr wrap="square">
            <a:spAutoFit/>
          </a:bodyPr>
          <a:lstStyle/>
          <a:p>
            <a:pPr algn="l">
              <a:defRPr sz="1400" b="0">
                <a:solidFill>
                  <a:srgbClr val="CBD5E1"/>
                </a:solidFill>
                <a:latin typeface="Calibri"/>
              </a:defRPr>
            </a:pPr>
            <a:r>
              <a:t>Extracts 8 categories of structured</a:t>
            </a:r>
            <a:br/>
            <a:r>
              <a:t>knowledge, not just a text summary.</a:t>
            </a:r>
          </a:p>
        </p:txBody>
      </p:sp>
      <p:sp>
        <p:nvSpPr>
          <p:cNvPr id="12" name="Rounded Rectangle 11"/>
          <p:cNvSpPr/>
          <p:nvPr/>
        </p:nvSpPr>
        <p:spPr>
          <a:xfrm>
            <a:off x="457200" y="3200400"/>
            <a:ext cx="557784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200400"/>
            <a:ext cx="557784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337560"/>
            <a:ext cx="5212080" cy="365760"/>
          </a:xfrm>
          <a:prstGeom prst="rect">
            <a:avLst/>
          </a:prstGeom>
          <a:noFill/>
        </p:spPr>
        <p:txBody>
          <a:bodyPr wrap="square">
            <a:spAutoFit/>
          </a:bodyPr>
          <a:lstStyle/>
          <a:p>
            <a:pPr algn="l">
              <a:defRPr sz="1800" b="1">
                <a:solidFill>
                  <a:srgbClr val="10B981"/>
                </a:solidFill>
                <a:latin typeface="Calibri"/>
              </a:defRPr>
            </a:pPr>
            <a:r>
              <a:t>Conversation to Execution</a:t>
            </a:r>
          </a:p>
        </p:txBody>
      </p:sp>
      <p:sp>
        <p:nvSpPr>
          <p:cNvPr id="15" name="TextBox 14"/>
          <p:cNvSpPr txBox="1"/>
          <p:nvPr/>
        </p:nvSpPr>
        <p:spPr>
          <a:xfrm>
            <a:off x="640080" y="3749040"/>
            <a:ext cx="5212080" cy="731520"/>
          </a:xfrm>
          <a:prstGeom prst="rect">
            <a:avLst/>
          </a:prstGeom>
          <a:noFill/>
        </p:spPr>
        <p:txBody>
          <a:bodyPr wrap="square">
            <a:spAutoFit/>
          </a:bodyPr>
          <a:lstStyle/>
          <a:p>
            <a:pPr algn="l">
              <a:defRPr sz="1400" b="0">
                <a:solidFill>
                  <a:srgbClr val="CBD5E1"/>
                </a:solidFill>
                <a:latin typeface="Calibri"/>
              </a:defRPr>
            </a:pPr>
            <a:r>
              <a:t>Converts discussion into accountable</a:t>
            </a:r>
            <a:br/>
            <a:r>
              <a:t>tasks, owners, and deadlines.</a:t>
            </a:r>
          </a:p>
        </p:txBody>
      </p:sp>
      <p:sp>
        <p:nvSpPr>
          <p:cNvPr id="16" name="Rounded Rectangle 15"/>
          <p:cNvSpPr/>
          <p:nvPr/>
        </p:nvSpPr>
        <p:spPr>
          <a:xfrm>
            <a:off x="6309360" y="3200400"/>
            <a:ext cx="557784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3200400"/>
            <a:ext cx="557784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337560"/>
            <a:ext cx="5212080" cy="365760"/>
          </a:xfrm>
          <a:prstGeom prst="rect">
            <a:avLst/>
          </a:prstGeom>
          <a:noFill/>
        </p:spPr>
        <p:txBody>
          <a:bodyPr wrap="square">
            <a:spAutoFit/>
          </a:bodyPr>
          <a:lstStyle/>
          <a:p>
            <a:pPr algn="l">
              <a:defRPr sz="1800" b="1">
                <a:solidFill>
                  <a:srgbClr val="F59E0B"/>
                </a:solidFill>
                <a:latin typeface="Calibri"/>
              </a:defRPr>
            </a:pPr>
            <a:r>
              <a:t>Human Approval Gate</a:t>
            </a:r>
          </a:p>
        </p:txBody>
      </p:sp>
      <p:sp>
        <p:nvSpPr>
          <p:cNvPr id="19" name="TextBox 18"/>
          <p:cNvSpPr txBox="1"/>
          <p:nvPr/>
        </p:nvSpPr>
        <p:spPr>
          <a:xfrm>
            <a:off x="6492240" y="3749040"/>
            <a:ext cx="5212080" cy="731520"/>
          </a:xfrm>
          <a:prstGeom prst="rect">
            <a:avLst/>
          </a:prstGeom>
          <a:noFill/>
        </p:spPr>
        <p:txBody>
          <a:bodyPr wrap="square">
            <a:spAutoFit/>
          </a:bodyPr>
          <a:lstStyle/>
          <a:p>
            <a:pPr algn="l">
              <a:defRPr sz="1400" b="0">
                <a:solidFill>
                  <a:srgbClr val="CBD5E1"/>
                </a:solidFill>
                <a:latin typeface="Calibri"/>
              </a:defRPr>
            </a:pPr>
            <a:r>
              <a:t>AI extracts, humans approve.</a:t>
            </a:r>
            <a:br/>
            <a:r>
              <a:t>Nothing reaches 'completed' without review.</a:t>
            </a:r>
          </a:p>
        </p:txBody>
      </p:sp>
      <p:sp>
        <p:nvSpPr>
          <p:cNvPr id="20" name="Rounded Rectangle 19"/>
          <p:cNvSpPr/>
          <p:nvPr/>
        </p:nvSpPr>
        <p:spPr>
          <a:xfrm>
            <a:off x="457200" y="4846320"/>
            <a:ext cx="557784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846320"/>
            <a:ext cx="557784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983480"/>
            <a:ext cx="5212080" cy="365760"/>
          </a:xfrm>
          <a:prstGeom prst="rect">
            <a:avLst/>
          </a:prstGeom>
          <a:noFill/>
        </p:spPr>
        <p:txBody>
          <a:bodyPr wrap="square">
            <a:spAutoFit/>
          </a:bodyPr>
          <a:lstStyle/>
          <a:p>
            <a:pPr algn="l">
              <a:defRPr sz="1800" b="1">
                <a:solidFill>
                  <a:srgbClr val="8B5CF6"/>
                </a:solidFill>
                <a:latin typeface="Calibri"/>
              </a:defRPr>
            </a:pPr>
            <a:r>
              <a:t>Persistent Workflow State</a:t>
            </a:r>
          </a:p>
        </p:txBody>
      </p:sp>
      <p:sp>
        <p:nvSpPr>
          <p:cNvPr id="23" name="TextBox 22"/>
          <p:cNvSpPr txBox="1"/>
          <p:nvPr/>
        </p:nvSpPr>
        <p:spPr>
          <a:xfrm>
            <a:off x="640080" y="5394960"/>
            <a:ext cx="5212080" cy="731520"/>
          </a:xfrm>
          <a:prstGeom prst="rect">
            <a:avLst/>
          </a:prstGeom>
          <a:noFill/>
        </p:spPr>
        <p:txBody>
          <a:bodyPr wrap="square">
            <a:spAutoFit/>
          </a:bodyPr>
          <a:lstStyle/>
          <a:p>
            <a:pPr algn="l">
              <a:defRPr sz="1400" b="0">
                <a:solidFill>
                  <a:srgbClr val="CBD5E1"/>
                </a:solidFill>
                <a:latin typeface="Calibri"/>
              </a:defRPr>
            </a:pPr>
            <a:r>
              <a:t>Every processing stage tracked with</a:t>
            </a:r>
            <a:br/>
            <a:r>
              <a:t>progress, failures, and retry attempts.</a:t>
            </a:r>
          </a:p>
        </p:txBody>
      </p:sp>
      <p:sp>
        <p:nvSpPr>
          <p:cNvPr id="24" name="Rounded Rectangle 23"/>
          <p:cNvSpPr/>
          <p:nvPr/>
        </p:nvSpPr>
        <p:spPr>
          <a:xfrm>
            <a:off x="6309360" y="4846320"/>
            <a:ext cx="5577840" cy="137160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4846320"/>
            <a:ext cx="557784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4983480"/>
            <a:ext cx="5212080" cy="365760"/>
          </a:xfrm>
          <a:prstGeom prst="rect">
            <a:avLst/>
          </a:prstGeom>
          <a:noFill/>
        </p:spPr>
        <p:txBody>
          <a:bodyPr wrap="square">
            <a:spAutoFit/>
          </a:bodyPr>
          <a:lstStyle/>
          <a:p>
            <a:pPr algn="l">
              <a:defRPr sz="1800" b="1">
                <a:solidFill>
                  <a:srgbClr val="06B6D4"/>
                </a:solidFill>
                <a:latin typeface="Calibri"/>
              </a:defRPr>
            </a:pPr>
            <a:r>
              <a:t>Provider Independence</a:t>
            </a:r>
          </a:p>
        </p:txBody>
      </p:sp>
      <p:sp>
        <p:nvSpPr>
          <p:cNvPr id="27" name="TextBox 26"/>
          <p:cNvSpPr txBox="1"/>
          <p:nvPr/>
        </p:nvSpPr>
        <p:spPr>
          <a:xfrm>
            <a:off x="6492240" y="5394960"/>
            <a:ext cx="5212080" cy="731520"/>
          </a:xfrm>
          <a:prstGeom prst="rect">
            <a:avLst/>
          </a:prstGeom>
          <a:noFill/>
        </p:spPr>
        <p:txBody>
          <a:bodyPr wrap="square">
            <a:spAutoFit/>
          </a:bodyPr>
          <a:lstStyle/>
          <a:p>
            <a:pPr algn="l">
              <a:defRPr sz="1400" b="0">
                <a:solidFill>
                  <a:srgbClr val="CBD5E1"/>
                </a:solidFill>
                <a:latin typeface="Calibri"/>
              </a:defRPr>
            </a:pPr>
            <a:r>
              <a:t>Swap between mock, Ollama, and OpenAI</a:t>
            </a:r>
            <a:br/>
            <a:r>
              <a:t>with a single environment variable.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Calibri"/>
              </a:defRPr>
            </a:pPr>
            <a:r>
              <a:t>Roadmap</a:t>
            </a:r>
          </a:p>
        </p:txBody>
      </p:sp>
      <p:sp>
        <p:nvSpPr>
          <p:cNvPr id="3" name="Rectangle 2"/>
          <p:cNvSpPr/>
          <p:nvPr/>
        </p:nvSpPr>
        <p:spPr>
          <a:xfrm>
            <a:off x="731520" y="1097280"/>
            <a:ext cx="182880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4572000" cy="274320"/>
          </a:xfrm>
          <a:prstGeom prst="rect">
            <a:avLst/>
          </a:prstGeom>
          <a:noFill/>
        </p:spPr>
        <p:txBody>
          <a:bodyPr wrap="square">
            <a:spAutoFit/>
          </a:bodyPr>
          <a:lstStyle/>
          <a:p>
            <a:pPr algn="l">
              <a:defRPr sz="1400" b="0">
                <a:solidFill>
                  <a:srgbClr val="94A3B8"/>
                </a:solidFill>
                <a:latin typeface="Calibri"/>
              </a:defRPr>
            </a:pPr>
            <a:r>
              <a:t>Future Work</a:t>
            </a:r>
          </a:p>
        </p:txBody>
      </p:sp>
      <p:sp>
        <p:nvSpPr>
          <p:cNvPr id="5" name="Rounded Rectangle 4"/>
          <p:cNvSpPr/>
          <p:nvPr/>
        </p:nvSpPr>
        <p:spPr>
          <a:xfrm>
            <a:off x="457200" y="1645920"/>
            <a:ext cx="3566160" cy="475488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45920"/>
            <a:ext cx="356616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83080"/>
            <a:ext cx="3291840" cy="365760"/>
          </a:xfrm>
          <a:prstGeom prst="rect">
            <a:avLst/>
          </a:prstGeom>
          <a:noFill/>
        </p:spPr>
        <p:txBody>
          <a:bodyPr wrap="square">
            <a:spAutoFit/>
          </a:bodyPr>
          <a:lstStyle/>
          <a:p>
            <a:pPr algn="l">
              <a:defRPr sz="2000" b="1">
                <a:solidFill>
                  <a:srgbClr val="10B981"/>
                </a:solidFill>
                <a:latin typeface="Calibri"/>
              </a:defRPr>
            </a:pPr>
            <a:r>
              <a:t>Near Term</a:t>
            </a:r>
          </a:p>
        </p:txBody>
      </p:sp>
      <p:sp>
        <p:nvSpPr>
          <p:cNvPr id="8" name="Oval 7"/>
          <p:cNvSpPr/>
          <p:nvPr/>
        </p:nvSpPr>
        <p:spPr>
          <a:xfrm>
            <a:off x="640080" y="234086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86000"/>
            <a:ext cx="3017520" cy="320040"/>
          </a:xfrm>
          <a:prstGeom prst="rect">
            <a:avLst/>
          </a:prstGeom>
          <a:noFill/>
        </p:spPr>
        <p:txBody>
          <a:bodyPr wrap="square">
            <a:spAutoFit/>
          </a:bodyPr>
          <a:lstStyle/>
          <a:p>
            <a:pPr algn="l">
              <a:defRPr sz="1400" b="0">
                <a:solidFill>
                  <a:srgbClr val="CBD5E1"/>
                </a:solidFill>
                <a:latin typeface="Calibri"/>
              </a:defRPr>
            </a:pPr>
            <a:r>
              <a:t>Background processing queue (Celery)</a:t>
            </a:r>
          </a:p>
        </p:txBody>
      </p:sp>
      <p:sp>
        <p:nvSpPr>
          <p:cNvPr id="10" name="Oval 9"/>
          <p:cNvSpPr/>
          <p:nvPr/>
        </p:nvSpPr>
        <p:spPr>
          <a:xfrm>
            <a:off x="640080" y="298094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26080"/>
            <a:ext cx="3017520" cy="320040"/>
          </a:xfrm>
          <a:prstGeom prst="rect">
            <a:avLst/>
          </a:prstGeom>
          <a:noFill/>
        </p:spPr>
        <p:txBody>
          <a:bodyPr wrap="square">
            <a:spAutoFit/>
          </a:bodyPr>
          <a:lstStyle/>
          <a:p>
            <a:pPr algn="l">
              <a:defRPr sz="1400" b="0">
                <a:solidFill>
                  <a:srgbClr val="CBD5E1"/>
                </a:solidFill>
                <a:latin typeface="Calibri"/>
              </a:defRPr>
            </a:pPr>
            <a:r>
              <a:t>Live progress updates (WebSocket / SSE)</a:t>
            </a:r>
          </a:p>
        </p:txBody>
      </p:sp>
      <p:sp>
        <p:nvSpPr>
          <p:cNvPr id="12" name="Oval 11"/>
          <p:cNvSpPr/>
          <p:nvPr/>
        </p:nvSpPr>
        <p:spPr>
          <a:xfrm>
            <a:off x="640080" y="362102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566160"/>
            <a:ext cx="3017520" cy="320040"/>
          </a:xfrm>
          <a:prstGeom prst="rect">
            <a:avLst/>
          </a:prstGeom>
          <a:noFill/>
        </p:spPr>
        <p:txBody>
          <a:bodyPr wrap="square">
            <a:spAutoFit/>
          </a:bodyPr>
          <a:lstStyle/>
          <a:p>
            <a:pPr algn="l">
              <a:defRPr sz="1400" b="0">
                <a:solidFill>
                  <a:srgbClr val="CBD5E1"/>
                </a:solidFill>
                <a:latin typeface="Calibri"/>
              </a:defRPr>
            </a:pPr>
            <a:r>
              <a:t>Retry and cancel controls in UI</a:t>
            </a:r>
          </a:p>
        </p:txBody>
      </p:sp>
      <p:sp>
        <p:nvSpPr>
          <p:cNvPr id="14" name="Oval 13"/>
          <p:cNvSpPr/>
          <p:nvPr/>
        </p:nvSpPr>
        <p:spPr>
          <a:xfrm>
            <a:off x="640080" y="426110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206240"/>
            <a:ext cx="3017520" cy="320040"/>
          </a:xfrm>
          <a:prstGeom prst="rect">
            <a:avLst/>
          </a:prstGeom>
          <a:noFill/>
        </p:spPr>
        <p:txBody>
          <a:bodyPr wrap="square">
            <a:spAutoFit/>
          </a:bodyPr>
          <a:lstStyle/>
          <a:p>
            <a:pPr algn="l">
              <a:defRPr sz="1400" b="0">
                <a:solidFill>
                  <a:srgbClr val="CBD5E1"/>
                </a:solidFill>
                <a:latin typeface="Calibri"/>
              </a:defRPr>
            </a:pPr>
            <a:r>
              <a:t>Export meeting reports (PDF / CSV)</a:t>
            </a:r>
          </a:p>
        </p:txBody>
      </p:sp>
      <p:sp>
        <p:nvSpPr>
          <p:cNvPr id="16" name="Oval 15"/>
          <p:cNvSpPr/>
          <p:nvPr/>
        </p:nvSpPr>
        <p:spPr>
          <a:xfrm>
            <a:off x="640080" y="490118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846320"/>
            <a:ext cx="3017520" cy="320040"/>
          </a:xfrm>
          <a:prstGeom prst="rect">
            <a:avLst/>
          </a:prstGeom>
          <a:noFill/>
        </p:spPr>
        <p:txBody>
          <a:bodyPr wrap="square">
            <a:spAutoFit/>
          </a:bodyPr>
          <a:lstStyle/>
          <a:p>
            <a:pPr algn="l">
              <a:defRPr sz="1400" b="0">
                <a:solidFill>
                  <a:srgbClr val="CBD5E1"/>
                </a:solidFill>
                <a:latin typeface="Calibri"/>
              </a:defRPr>
            </a:pPr>
            <a:r>
              <a:t>Improved speaker diarization</a:t>
            </a:r>
          </a:p>
        </p:txBody>
      </p:sp>
      <p:sp>
        <p:nvSpPr>
          <p:cNvPr id="18" name="Rounded Rectangle 17"/>
          <p:cNvSpPr/>
          <p:nvPr/>
        </p:nvSpPr>
        <p:spPr>
          <a:xfrm>
            <a:off x="4297680" y="1645920"/>
            <a:ext cx="3566160" cy="475488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1645920"/>
            <a:ext cx="356616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1783080"/>
            <a:ext cx="3291840" cy="365760"/>
          </a:xfrm>
          <a:prstGeom prst="rect">
            <a:avLst/>
          </a:prstGeom>
          <a:noFill/>
        </p:spPr>
        <p:txBody>
          <a:bodyPr wrap="square">
            <a:spAutoFit/>
          </a:bodyPr>
          <a:lstStyle/>
          <a:p>
            <a:pPr algn="l">
              <a:defRPr sz="2000" b="1">
                <a:solidFill>
                  <a:srgbClr val="3B82F6"/>
                </a:solidFill>
                <a:latin typeface="Calibri"/>
              </a:defRPr>
            </a:pPr>
            <a:r>
              <a:t>Mid Term</a:t>
            </a:r>
          </a:p>
        </p:txBody>
      </p:sp>
      <p:sp>
        <p:nvSpPr>
          <p:cNvPr id="21" name="Oval 20"/>
          <p:cNvSpPr/>
          <p:nvPr/>
        </p:nvSpPr>
        <p:spPr>
          <a:xfrm>
            <a:off x="4480560" y="2340864"/>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40" y="2286000"/>
            <a:ext cx="3017520" cy="320040"/>
          </a:xfrm>
          <a:prstGeom prst="rect">
            <a:avLst/>
          </a:prstGeom>
          <a:noFill/>
        </p:spPr>
        <p:txBody>
          <a:bodyPr wrap="square">
            <a:spAutoFit/>
          </a:bodyPr>
          <a:lstStyle/>
          <a:p>
            <a:pPr algn="l">
              <a:defRPr sz="1400" b="0">
                <a:solidFill>
                  <a:srgbClr val="CBD5E1"/>
                </a:solidFill>
                <a:latin typeface="Calibri"/>
              </a:defRPr>
            </a:pPr>
            <a:r>
              <a:t>Google Meet / Zoom / Teams ingestion</a:t>
            </a:r>
          </a:p>
        </p:txBody>
      </p:sp>
      <p:sp>
        <p:nvSpPr>
          <p:cNvPr id="23" name="Oval 22"/>
          <p:cNvSpPr/>
          <p:nvPr/>
        </p:nvSpPr>
        <p:spPr>
          <a:xfrm>
            <a:off x="4480560" y="2980944"/>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2926080"/>
            <a:ext cx="3017520" cy="320040"/>
          </a:xfrm>
          <a:prstGeom prst="rect">
            <a:avLst/>
          </a:prstGeom>
          <a:noFill/>
        </p:spPr>
        <p:txBody>
          <a:bodyPr wrap="square">
            <a:spAutoFit/>
          </a:bodyPr>
          <a:lstStyle/>
          <a:p>
            <a:pPr algn="l">
              <a:defRPr sz="1400" b="0">
                <a:solidFill>
                  <a:srgbClr val="CBD5E1"/>
                </a:solidFill>
                <a:latin typeface="Calibri"/>
              </a:defRPr>
            </a:pPr>
            <a:r>
              <a:t>Slack, Jira, and Notion integrations</a:t>
            </a:r>
          </a:p>
        </p:txBody>
      </p:sp>
      <p:sp>
        <p:nvSpPr>
          <p:cNvPr id="25" name="Oval 24"/>
          <p:cNvSpPr/>
          <p:nvPr/>
        </p:nvSpPr>
        <p:spPr>
          <a:xfrm>
            <a:off x="4480560" y="3621024"/>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3566160"/>
            <a:ext cx="3017520" cy="320040"/>
          </a:xfrm>
          <a:prstGeom prst="rect">
            <a:avLst/>
          </a:prstGeom>
          <a:noFill/>
        </p:spPr>
        <p:txBody>
          <a:bodyPr wrap="square">
            <a:spAutoFit/>
          </a:bodyPr>
          <a:lstStyle/>
          <a:p>
            <a:pPr algn="l">
              <a:defRPr sz="1400" b="0">
                <a:solidFill>
                  <a:srgbClr val="CBD5E1"/>
                </a:solidFill>
                <a:latin typeface="Calibri"/>
              </a:defRPr>
            </a:pPr>
            <a:r>
              <a:t>Email and calendar action dispatch</a:t>
            </a:r>
          </a:p>
        </p:txBody>
      </p:sp>
      <p:sp>
        <p:nvSpPr>
          <p:cNvPr id="27" name="Oval 26"/>
          <p:cNvSpPr/>
          <p:nvPr/>
        </p:nvSpPr>
        <p:spPr>
          <a:xfrm>
            <a:off x="4480560" y="4261104"/>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63440" y="4206240"/>
            <a:ext cx="3017520" cy="320040"/>
          </a:xfrm>
          <a:prstGeom prst="rect">
            <a:avLst/>
          </a:prstGeom>
          <a:noFill/>
        </p:spPr>
        <p:txBody>
          <a:bodyPr wrap="square">
            <a:spAutoFit/>
          </a:bodyPr>
          <a:lstStyle/>
          <a:p>
            <a:pPr algn="l">
              <a:defRPr sz="1400" b="0">
                <a:solidFill>
                  <a:srgbClr val="CBD5E1"/>
                </a:solidFill>
                <a:latin typeface="Calibri"/>
              </a:defRPr>
            </a:pPr>
            <a:r>
              <a:t>Semantic meeting search (Qdrant)</a:t>
            </a:r>
          </a:p>
        </p:txBody>
      </p:sp>
      <p:sp>
        <p:nvSpPr>
          <p:cNvPr id="29" name="Oval 28"/>
          <p:cNvSpPr/>
          <p:nvPr/>
        </p:nvSpPr>
        <p:spPr>
          <a:xfrm>
            <a:off x="4480560" y="4901184"/>
            <a:ext cx="91440" cy="914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3440" y="4846320"/>
            <a:ext cx="3017520" cy="320040"/>
          </a:xfrm>
          <a:prstGeom prst="rect">
            <a:avLst/>
          </a:prstGeom>
          <a:noFill/>
        </p:spPr>
        <p:txBody>
          <a:bodyPr wrap="square">
            <a:spAutoFit/>
          </a:bodyPr>
          <a:lstStyle/>
          <a:p>
            <a:pPr algn="l">
              <a:defRPr sz="1400" b="0">
                <a:solidFill>
                  <a:srgbClr val="CBD5E1"/>
                </a:solidFill>
                <a:latin typeface="Calibri"/>
              </a:defRPr>
            </a:pPr>
            <a:r>
              <a:t>Multi-user collaboration features</a:t>
            </a:r>
          </a:p>
        </p:txBody>
      </p:sp>
      <p:sp>
        <p:nvSpPr>
          <p:cNvPr id="31" name="Rounded Rectangle 30"/>
          <p:cNvSpPr/>
          <p:nvPr/>
        </p:nvSpPr>
        <p:spPr>
          <a:xfrm>
            <a:off x="8138160" y="1645920"/>
            <a:ext cx="3566160" cy="4754880"/>
          </a:xfrm>
          <a:prstGeom prst="roundRect">
            <a:avLst>
              <a:gd name="adj" fmla="val 5000"/>
            </a:avLst>
          </a:prstGeom>
          <a:solidFill>
            <a:srgbClr val="111522"/>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38160" y="1645920"/>
            <a:ext cx="3566160" cy="381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5320" y="1783080"/>
            <a:ext cx="3291840" cy="365760"/>
          </a:xfrm>
          <a:prstGeom prst="rect">
            <a:avLst/>
          </a:prstGeom>
          <a:noFill/>
        </p:spPr>
        <p:txBody>
          <a:bodyPr wrap="square">
            <a:spAutoFit/>
          </a:bodyPr>
          <a:lstStyle/>
          <a:p>
            <a:pPr algn="l">
              <a:defRPr sz="2000" b="1">
                <a:solidFill>
                  <a:srgbClr val="7C3AED"/>
                </a:solidFill>
                <a:latin typeface="Calibri"/>
              </a:defRPr>
            </a:pPr>
            <a:r>
              <a:t>Long Term</a:t>
            </a:r>
          </a:p>
        </p:txBody>
      </p:sp>
      <p:sp>
        <p:nvSpPr>
          <p:cNvPr id="34" name="Oval 33"/>
          <p:cNvSpPr/>
          <p:nvPr/>
        </p:nvSpPr>
        <p:spPr>
          <a:xfrm>
            <a:off x="8321040" y="2340864"/>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0" y="2286000"/>
            <a:ext cx="3017520" cy="320040"/>
          </a:xfrm>
          <a:prstGeom prst="rect">
            <a:avLst/>
          </a:prstGeom>
          <a:noFill/>
        </p:spPr>
        <p:txBody>
          <a:bodyPr wrap="square">
            <a:spAutoFit/>
          </a:bodyPr>
          <a:lstStyle/>
          <a:p>
            <a:pPr algn="l">
              <a:defRPr sz="1400" b="0">
                <a:solidFill>
                  <a:srgbClr val="CBD5E1"/>
                </a:solidFill>
                <a:latin typeface="Calibri"/>
              </a:defRPr>
            </a:pPr>
            <a:r>
              <a:t>Organizational knowledge graph (Neo4j)</a:t>
            </a:r>
          </a:p>
        </p:txBody>
      </p:sp>
      <p:sp>
        <p:nvSpPr>
          <p:cNvPr id="36" name="Oval 35"/>
          <p:cNvSpPr/>
          <p:nvPr/>
        </p:nvSpPr>
        <p:spPr>
          <a:xfrm>
            <a:off x="8321040" y="2980944"/>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03920" y="2926080"/>
            <a:ext cx="3017520" cy="320040"/>
          </a:xfrm>
          <a:prstGeom prst="rect">
            <a:avLst/>
          </a:prstGeom>
          <a:noFill/>
        </p:spPr>
        <p:txBody>
          <a:bodyPr wrap="square">
            <a:spAutoFit/>
          </a:bodyPr>
          <a:lstStyle/>
          <a:p>
            <a:pPr algn="l">
              <a:defRPr sz="1400" b="0">
                <a:solidFill>
                  <a:srgbClr val="CBD5E1"/>
                </a:solidFill>
                <a:latin typeface="Calibri"/>
              </a:defRPr>
            </a:pPr>
            <a:r>
              <a:t>Cross-meeting dependency tracking</a:t>
            </a:r>
          </a:p>
        </p:txBody>
      </p:sp>
      <p:sp>
        <p:nvSpPr>
          <p:cNvPr id="38" name="Oval 37"/>
          <p:cNvSpPr/>
          <p:nvPr/>
        </p:nvSpPr>
        <p:spPr>
          <a:xfrm>
            <a:off x="8321040" y="3621024"/>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03920" y="3566160"/>
            <a:ext cx="3017520" cy="320040"/>
          </a:xfrm>
          <a:prstGeom prst="rect">
            <a:avLst/>
          </a:prstGeom>
          <a:noFill/>
        </p:spPr>
        <p:txBody>
          <a:bodyPr wrap="square">
            <a:spAutoFit/>
          </a:bodyPr>
          <a:lstStyle/>
          <a:p>
            <a:pPr algn="l">
              <a:defRPr sz="1400" b="0">
                <a:solidFill>
                  <a:srgbClr val="CBD5E1"/>
                </a:solidFill>
                <a:latin typeface="Calibri"/>
              </a:defRPr>
            </a:pPr>
            <a:r>
              <a:t>Team participation analytics</a:t>
            </a:r>
          </a:p>
        </p:txBody>
      </p:sp>
      <p:sp>
        <p:nvSpPr>
          <p:cNvPr id="40" name="Oval 39"/>
          <p:cNvSpPr/>
          <p:nvPr/>
        </p:nvSpPr>
        <p:spPr>
          <a:xfrm>
            <a:off x="8321040" y="4261104"/>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03920" y="4206240"/>
            <a:ext cx="3017520" cy="320040"/>
          </a:xfrm>
          <a:prstGeom prst="rect">
            <a:avLst/>
          </a:prstGeom>
          <a:noFill/>
        </p:spPr>
        <p:txBody>
          <a:bodyPr wrap="square">
            <a:spAutoFit/>
          </a:bodyPr>
          <a:lstStyle/>
          <a:p>
            <a:pPr algn="l">
              <a:defRPr sz="1400" b="0">
                <a:solidFill>
                  <a:srgbClr val="CBD5E1"/>
                </a:solidFill>
                <a:latin typeface="Calibri"/>
              </a:defRPr>
            </a:pPr>
            <a:r>
              <a:t>Policy and compliance workflows</a:t>
            </a:r>
          </a:p>
        </p:txBody>
      </p:sp>
      <p:sp>
        <p:nvSpPr>
          <p:cNvPr id="42" name="Oval 41"/>
          <p:cNvSpPr/>
          <p:nvPr/>
        </p:nvSpPr>
        <p:spPr>
          <a:xfrm>
            <a:off x="8321040" y="4901184"/>
            <a:ext cx="91440" cy="914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03920" y="4846320"/>
            <a:ext cx="3017520" cy="320040"/>
          </a:xfrm>
          <a:prstGeom prst="rect">
            <a:avLst/>
          </a:prstGeom>
          <a:noFill/>
        </p:spPr>
        <p:txBody>
          <a:bodyPr wrap="square">
            <a:spAutoFit/>
          </a:bodyPr>
          <a:lstStyle/>
          <a:p>
            <a:pPr algn="l">
              <a:defRPr sz="1400" b="0">
                <a:solidFill>
                  <a:srgbClr val="CBD5E1"/>
                </a:solidFill>
                <a:latin typeface="Calibri"/>
              </a:defRPr>
            </a:pPr>
            <a:r>
              <a:t>Multi-model deployment and routing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Oval 1"/>
          <p:cNvSpPr/>
          <p:nvPr/>
        </p:nvSpPr>
        <p:spPr>
          <a:xfrm>
            <a:off x="914400" y="4572000"/>
            <a:ext cx="2286000" cy="2286000"/>
          </a:xfrm>
          <a:prstGeom prst="ellipse">
            <a:avLst/>
          </a:prstGeom>
          <a:solidFill>
            <a:srgbClr val="141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1828800" cy="1828800"/>
          </a:xfrm>
          <a:prstGeom prst="ellipse">
            <a:avLst/>
          </a:prstGeom>
          <a:solidFill>
            <a:srgbClr val="12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0" y="2011680"/>
            <a:ext cx="3931920" cy="50800"/>
          </a:xfrm>
          <a:prstGeom prst="roundRect">
            <a:avLst>
              <a:gd name="adj" fmla="val 5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194560"/>
            <a:ext cx="8503920" cy="914400"/>
          </a:xfrm>
          <a:prstGeom prst="rect">
            <a:avLst/>
          </a:prstGeom>
          <a:noFill/>
        </p:spPr>
        <p:txBody>
          <a:bodyPr wrap="square">
            <a:spAutoFit/>
          </a:bodyPr>
          <a:lstStyle/>
          <a:p>
            <a:pPr algn="ctr">
              <a:defRPr sz="4000" b="1">
                <a:solidFill>
                  <a:srgbClr val="FFFFFF"/>
                </a:solidFill>
                <a:latin typeface="Calibri"/>
              </a:defRPr>
            </a:pPr>
            <a:r>
              <a:t>From Conversation to Execution</a:t>
            </a:r>
          </a:p>
        </p:txBody>
      </p:sp>
      <p:sp>
        <p:nvSpPr>
          <p:cNvPr id="6" name="TextBox 5"/>
          <p:cNvSpPr txBox="1"/>
          <p:nvPr/>
        </p:nvSpPr>
        <p:spPr>
          <a:xfrm>
            <a:off x="1828800" y="3200400"/>
            <a:ext cx="8503920" cy="731520"/>
          </a:xfrm>
          <a:prstGeom prst="rect">
            <a:avLst/>
          </a:prstGeom>
          <a:noFill/>
        </p:spPr>
        <p:txBody>
          <a:bodyPr wrap="square">
            <a:spAutoFit/>
          </a:bodyPr>
          <a:lstStyle/>
          <a:p>
            <a:pPr algn="ctr">
              <a:defRPr sz="1800" b="0">
                <a:solidFill>
                  <a:srgbClr val="94A3B8"/>
                </a:solidFill>
                <a:latin typeface="Calibri"/>
              </a:defRPr>
            </a:pPr>
            <a:r>
              <a:t>Cortex AI ensures meetings do not end as transcripts —</a:t>
            </a:r>
            <a:br/>
            <a:r>
              <a:t>they become decisions, owners, and measurable execution.</a:t>
            </a:r>
          </a:p>
        </p:txBody>
      </p:sp>
      <p:sp>
        <p:nvSpPr>
          <p:cNvPr id="7" name="Rounded Rectangle 6"/>
          <p:cNvSpPr/>
          <p:nvPr/>
        </p:nvSpPr>
        <p:spPr>
          <a:xfrm>
            <a:off x="2743200" y="4114800"/>
            <a:ext cx="6675120" cy="1463040"/>
          </a:xfrm>
          <a:prstGeom prst="roundRect">
            <a:avLst>
              <a:gd name="adj" fmla="val 5000"/>
            </a:avLst>
          </a:prstGeom>
          <a:solidFill>
            <a:srgbClr val="111522"/>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4160520"/>
            <a:ext cx="6309360" cy="274320"/>
          </a:xfrm>
          <a:prstGeom prst="rect">
            <a:avLst/>
          </a:prstGeom>
          <a:noFill/>
        </p:spPr>
        <p:txBody>
          <a:bodyPr wrap="square">
            <a:spAutoFit/>
          </a:bodyPr>
          <a:lstStyle/>
          <a:p>
            <a:pPr algn="ctr">
              <a:defRPr sz="1400" b="1">
                <a:solidFill>
                  <a:srgbClr val="8B5CF6"/>
                </a:solidFill>
                <a:latin typeface="Calibri"/>
              </a:defRPr>
            </a:pPr>
            <a:r>
              <a:t>Live Demo Sequence</a:t>
            </a:r>
          </a:p>
        </p:txBody>
      </p:sp>
      <p:sp>
        <p:nvSpPr>
          <p:cNvPr id="9" name="TextBox 8"/>
          <p:cNvSpPr txBox="1"/>
          <p:nvPr/>
        </p:nvSpPr>
        <p:spPr>
          <a:xfrm>
            <a:off x="2926080" y="4480560"/>
            <a:ext cx="6309360" cy="914400"/>
          </a:xfrm>
          <a:prstGeom prst="rect">
            <a:avLst/>
          </a:prstGeom>
          <a:noFill/>
        </p:spPr>
        <p:txBody>
          <a:bodyPr wrap="square">
            <a:spAutoFit/>
          </a:bodyPr>
          <a:lstStyle/>
          <a:p>
            <a:pPr algn="ctr">
              <a:defRPr sz="1300" b="0">
                <a:solidFill>
                  <a:srgbClr val="CBD5E1"/>
                </a:solidFill>
                <a:latin typeface="Calibri"/>
              </a:defRPr>
            </a:pPr>
            <a:r>
              <a:t>Login  &gt;  Create Meeting  &gt;  Paste Transcript  &gt;  Process  &gt;  Review Results  &gt;  Workflows  &gt;  Analytics  &gt;  History  &gt;  Settings</a:t>
            </a:r>
          </a:p>
        </p:txBody>
      </p:sp>
      <p:sp>
        <p:nvSpPr>
          <p:cNvPr id="10" name="TextBox 9"/>
          <p:cNvSpPr txBox="1"/>
          <p:nvPr/>
        </p:nvSpPr>
        <p:spPr>
          <a:xfrm>
            <a:off x="1828800" y="5760720"/>
            <a:ext cx="8503920" cy="365760"/>
          </a:xfrm>
          <a:prstGeom prst="rect">
            <a:avLst/>
          </a:prstGeom>
          <a:noFill/>
        </p:spPr>
        <p:txBody>
          <a:bodyPr wrap="square">
            <a:spAutoFit/>
          </a:bodyPr>
          <a:lstStyle/>
          <a:p>
            <a:pPr algn="ctr">
              <a:defRPr sz="1600" b="0">
                <a:solidFill>
                  <a:srgbClr val="8B5CF6"/>
                </a:solidFill>
                <a:latin typeface="Calibri"/>
              </a:defRPr>
            </a:pPr>
            <a:r>
              <a:t>github.com/harshan490/CORTEX-AI</a:t>
            </a:r>
          </a:p>
        </p:txBody>
      </p:sp>
      <p:sp>
        <p:nvSpPr>
          <p:cNvPr id="11" name="TextBox 10"/>
          <p:cNvSpPr txBox="1"/>
          <p:nvPr/>
        </p:nvSpPr>
        <p:spPr>
          <a:xfrm>
            <a:off x="1828800" y="6126480"/>
            <a:ext cx="8503920" cy="365760"/>
          </a:xfrm>
          <a:prstGeom prst="rect">
            <a:avLst/>
          </a:prstGeom>
          <a:noFill/>
        </p:spPr>
        <p:txBody>
          <a:bodyPr wrap="square">
            <a:spAutoFit/>
          </a:bodyPr>
          <a:lstStyle/>
          <a:p>
            <a:pPr algn="ctr">
              <a:defRPr sz="1400" b="0">
                <a:solidFill>
                  <a:srgbClr val="94A3B8"/>
                </a:solidFill>
                <a:latin typeface="Calibri"/>
              </a:defRPr>
            </a:pPr>
            <a:r>
              <a:t>harshan490  |  divya-m984  |  Nandhini Raju</a:t>
            </a:r>
          </a:p>
        </p:txBody>
      </p:sp>
      <p:sp>
        <p:nvSpPr>
          <p:cNvPr id="12" name="TextBox 11"/>
          <p:cNvSpPr txBox="1"/>
          <p:nvPr/>
        </p:nvSpPr>
        <p:spPr>
          <a:xfrm>
            <a:off x="1828800" y="6400800"/>
            <a:ext cx="8503920" cy="274320"/>
          </a:xfrm>
          <a:prstGeom prst="rect">
            <a:avLst/>
          </a:prstGeom>
          <a:noFill/>
        </p:spPr>
        <p:txBody>
          <a:bodyPr wrap="square">
            <a:spAutoFit/>
          </a:bodyPr>
          <a:lstStyle/>
          <a:p>
            <a:pPr algn="ctr">
              <a:defRPr sz="1600" b="1">
                <a:solidFill>
                  <a:srgbClr val="FFFFFF"/>
                </a:solidFill>
                <a:latin typeface="Calibri"/>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